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798" r:id="rId2"/>
    <p:sldId id="288" r:id="rId3"/>
    <p:sldId id="259" r:id="rId4"/>
    <p:sldId id="809" r:id="rId5"/>
    <p:sldId id="808" r:id="rId6"/>
    <p:sldId id="810" r:id="rId7"/>
    <p:sldId id="811" r:id="rId8"/>
    <p:sldId id="812" r:id="rId9"/>
    <p:sldId id="813" r:id="rId10"/>
    <p:sldId id="814" r:id="rId11"/>
    <p:sldId id="816" r:id="rId12"/>
    <p:sldId id="81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DBBC6"/>
    <a:srgbClr val="FF0000"/>
    <a:srgbClr val="011451"/>
    <a:srgbClr val="005398"/>
    <a:srgbClr val="F2D25C"/>
    <a:srgbClr val="4C2683"/>
    <a:srgbClr val="405D18"/>
    <a:srgbClr val="7D2239"/>
    <a:srgbClr val="A60367"/>
    <a:srgbClr val="A5A1C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489"/>
    <p:restoredTop sz="94626"/>
  </p:normalViewPr>
  <p:slideViewPr>
    <p:cSldViewPr snapToGrid="0">
      <p:cViewPr varScale="1">
        <p:scale>
          <a:sx n="77" d="100"/>
          <a:sy n="77" d="100"/>
        </p:scale>
        <p:origin x="1085" y="96"/>
      </p:cViewPr>
      <p:guideLst/>
    </p:cSldViewPr>
  </p:slideViewPr>
  <p:outlineViewPr>
    <p:cViewPr>
      <p:scale>
        <a:sx n="33" d="100"/>
        <a:sy n="33" d="100"/>
      </p:scale>
      <p:origin x="0" y="-1164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howGuides="1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9ACFF66-7EB0-9844-92BF-09704711A1FD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37395D-33DE-5D42-A2E8-3486FD99F3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0754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CE6140-0D8B-A571-11B9-12816C4FA8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C139C0-DDDB-6953-109F-5A7EC8CC34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F763DE-AF29-A925-DD8A-9B38E19868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9EE161-B99E-6AAA-0CE2-1076E8AB0F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37395D-33DE-5D42-A2E8-3486FD99F3BB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839033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37395D-33DE-5D42-A2E8-3486FD99F3BB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9917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6AA75F-E384-5C73-CFE4-4F5A155691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0A04A8-85BE-4439-FDE1-6A53B944F3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8F8BF72-7069-D6BC-D969-A1BA5B275D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518C91-524A-D523-3136-95DD0A16E2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637395D-33DE-5D42-A2E8-3486FD99F3B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6016718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8896A2-C479-08A8-9333-34980F363E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EEED65-C370-A489-EE88-C191CD3012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0D7C19-5500-ADD1-3F40-C13C58550D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37701C-17D4-5D7C-D7D8-C9396EABB6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637395D-33DE-5D42-A2E8-3486FD99F3B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9249816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EA4348-9B58-D3F8-9430-0A29D75EA4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24A173-CED1-2730-6494-1C5D2BFF72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6F279D-69E2-A1FD-55B3-758DBDD2E7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821D62-F8B4-CDF1-CC56-ECE12AB1CC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637395D-33DE-5D42-A2E8-3486FD99F3B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0397495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599FC2-E558-82EF-D95B-2CE36BEE50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FB8FE2-0308-6EC9-A3A9-C9723C2D8C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FB6E04-8F58-0BBB-203B-3F297C669C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D7180F-2C43-6FC4-DAF7-E44AAFBD7F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637395D-33DE-5D42-A2E8-3486FD99F3B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128773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FE0841-2BCF-F665-846F-1B358BB25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D970F0-DD56-94DE-242B-AFCF7687A2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D69797-D190-45AA-F9D7-91C250C8D6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B45510-2DB7-52DC-CCEB-CB35FB1C8C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637395D-33DE-5D42-A2E8-3486FD99F3B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3754243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EF865E-4982-E9FB-67A1-47E9F52E24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A5A68D-739A-B69B-3BC6-EEB12FC59C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4463DC-6C49-15C5-5F9A-1E14D058D5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3C823C-2B5F-6D57-DE58-EC3B38F9AD0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637395D-33DE-5D42-A2E8-3486FD99F3B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3508929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82CAC9-E4EE-8903-EC8C-BF6744A6B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84BE0B4-89B2-DDBE-0F4E-21AFC471B8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2E3BC07-1C53-6FC3-9E71-EA1FC18EFF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5C6CEF-2A26-4567-18FC-DA8B2A93F30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637395D-33DE-5D42-A2E8-3486FD99F3B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1031017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A53AD3-4CC9-98A4-0CBA-1C5B0FD7DB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A04A81A-4C25-92EB-30C2-FCBD0976F1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073774E-D65C-A493-D2D0-45170782EB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A05A0F-6C1A-3A21-8D24-26B1F0DA61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637395D-33DE-5D42-A2E8-3486FD99F3B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9965886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B1C699-A3A8-3D3E-11D5-E07157B37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38CB18-C9D7-5887-9FF3-B47E997810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A30AFB3-A621-AEAE-7B64-5CACFC8D1C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4A5597-0D24-F91E-1D85-64859BE931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637395D-33DE-5D42-A2E8-3486FD99F3B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953275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pening/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1B9978F3-40AA-B047-B077-E6C1CE004D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6880" y="1830048"/>
            <a:ext cx="6882938" cy="789709"/>
          </a:xfrm>
        </p:spPr>
        <p:txBody>
          <a:bodyPr/>
          <a:lstStyle>
            <a:lvl1pPr algn="l">
              <a:defRPr sz="3200" b="1">
                <a:latin typeface="Arial" panose="020B0604020202020204" pitchFamily="34" charset="0"/>
                <a:ea typeface="Noto Sans" panose="020B0502040504020204" pitchFamily="34" charset="0"/>
                <a:cs typeface="Arial" panose="020B0604020202020204" pitchFamily="34" charset="0"/>
              </a:defRPr>
            </a:lvl1pPr>
          </a:lstStyle>
          <a:p>
            <a:endParaRPr lang="en-GB" dirty="0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157762F7-94EF-0744-BA0E-BF26083BC292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436880" y="2619757"/>
            <a:ext cx="5933759" cy="622300"/>
          </a:xfrm>
        </p:spPr>
        <p:txBody>
          <a:bodyPr>
            <a:normAutofit/>
          </a:bodyPr>
          <a:lstStyle>
            <a:lvl1pPr>
              <a:defRPr sz="2400">
                <a:latin typeface="Arial" panose="020B0604020202020204" pitchFamily="34" charset="0"/>
                <a:ea typeface="Noto Sans" panose="020B0502040504020204" pitchFamily="34" charset="0"/>
                <a:cs typeface="Arial" panose="020B0604020202020204" pitchFamily="34" charset="0"/>
              </a:defRPr>
            </a:lvl1pPr>
          </a:lstStyle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060295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50/50 whit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9F4BD8-EB88-3A42-8B54-5F33FFD1784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6560" y="1647172"/>
            <a:ext cx="5583407" cy="579193"/>
          </a:xfrm>
          <a:prstGeom prst="rect">
            <a:avLst/>
          </a:prstGeom>
        </p:spPr>
        <p:txBody>
          <a:bodyPr anchor="t" anchorCtr="0"/>
          <a:lstStyle>
            <a:lvl1pPr>
              <a:defRPr sz="3200" b="1">
                <a:latin typeface="Arial" panose="020B0604020202020204" pitchFamily="34" charset="0"/>
                <a:ea typeface="Noto Sans Black" panose="020B0502040504020204" pitchFamily="34" charset="0"/>
                <a:cs typeface="Arial" panose="020B0604020202020204" pitchFamily="34" charset="0"/>
              </a:defRPr>
            </a:lvl1pPr>
          </a:lstStyle>
          <a:p>
            <a:r>
              <a:rPr lang="en-GB" dirty="0"/>
              <a:t>Click to edit title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855A043-7FE9-49DD-6627-654086912E2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192035" y="0"/>
            <a:ext cx="5999965" cy="685799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E9DA9C2-E758-B32D-862F-3C5781E850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16560" y="2325757"/>
            <a:ext cx="5583407" cy="403059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sz="2400" b="0" i="0">
                <a:latin typeface="Arial" panose="020B0604020202020204" pitchFamily="34" charset="0"/>
                <a:ea typeface="Noto Sans" panose="020B0502040504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9CF5241-613C-E4CA-1D10-3BAAD5CB5A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8DFB0F-4570-4E46-88F7-D5DC70EA90D0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36C186-ADAD-3B7B-D861-8C341799FC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8D53B5-11D3-EA23-8B10-6E7A43B826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CECB0-5B99-6C46-A59C-D11C8A5B2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40985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4" userDrawn="1">
          <p15:clr>
            <a:srgbClr val="FBAE40"/>
          </p15:clr>
        </p15:guide>
        <p15:guide id="2" pos="166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50/50 uni blue white tex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9F4BD8-EB88-3A42-8B54-5F33FFD1784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6560" y="1647173"/>
            <a:ext cx="5679441" cy="421114"/>
          </a:xfrm>
          <a:prstGeom prst="rect">
            <a:avLst/>
          </a:prstGeom>
        </p:spPr>
        <p:txBody>
          <a:bodyPr anchor="t" anchorCtr="0"/>
          <a:lstStyle>
            <a:lvl1pPr>
              <a:defRPr sz="3200" b="1" i="0">
                <a:solidFill>
                  <a:schemeClr val="bg1"/>
                </a:solidFill>
                <a:latin typeface="Arial" panose="020B0604020202020204" pitchFamily="34" charset="0"/>
                <a:ea typeface="Noto Sans Black" panose="020B0502040504020204" pitchFamily="34" charset="0"/>
                <a:cs typeface="Arial" panose="020B0604020202020204" pitchFamily="34" charset="0"/>
              </a:defRPr>
            </a:lvl1pPr>
          </a:lstStyle>
          <a:p>
            <a:r>
              <a:rPr lang="en-GB" dirty="0"/>
              <a:t>Click to edit title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855A043-7FE9-49DD-6627-654086912E2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192035" y="0"/>
            <a:ext cx="5999965" cy="6857999"/>
          </a:xfrm>
          <a:prstGeom prst="rect">
            <a:avLst/>
          </a:prstGeom>
          <a:solidFill>
            <a:schemeClr val="bg1"/>
          </a:solidFill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E9DA9C2-E758-B32D-862F-3C5781E850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16560" y="2155371"/>
            <a:ext cx="5583407" cy="4200979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sz="2400" b="0" i="0">
                <a:solidFill>
                  <a:schemeClr val="bg1"/>
                </a:solidFill>
                <a:latin typeface="Arial" panose="020B0604020202020204" pitchFamily="34" charset="0"/>
                <a:ea typeface="Noto Sans" panose="020B0502040504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9CF5241-613C-E4CA-1D10-3BAAD5CB5A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8DFB0F-4570-4E46-88F7-D5DC70EA90D0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36C186-ADAD-3B7B-D861-8C341799FC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8D53B5-11D3-EA23-8B10-6E7A43B826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CECB0-5B99-6C46-A59C-D11C8A5B2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358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1/3 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9F4BD8-EB88-3A42-8B54-5F33FFD1784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6560" y="1647173"/>
            <a:ext cx="5679441" cy="421114"/>
          </a:xfrm>
          <a:prstGeom prst="rect">
            <a:avLst/>
          </a:prstGeom>
        </p:spPr>
        <p:txBody>
          <a:bodyPr anchor="t" anchorCtr="0"/>
          <a:lstStyle>
            <a:lvl1pPr>
              <a:defRPr sz="3200" b="1" i="0">
                <a:latin typeface="Arial" panose="020B0604020202020204" pitchFamily="34" charset="0"/>
                <a:ea typeface="Noto Sans Black" panose="020B0502040504020204" pitchFamily="34" charset="0"/>
                <a:cs typeface="Arial" panose="020B0604020202020204" pitchFamily="34" charset="0"/>
              </a:defRPr>
            </a:lvl1pPr>
          </a:lstStyle>
          <a:p>
            <a:r>
              <a:rPr lang="en-GB" dirty="0"/>
              <a:t>Click to edit title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855A043-7FE9-49DD-6627-654086912E2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8077200" y="0"/>
            <a:ext cx="4114800" cy="6857999"/>
          </a:xfrm>
          <a:prstGeom prst="rect">
            <a:avLst/>
          </a:prstGeom>
          <a:solidFill>
            <a:schemeClr val="bg1"/>
          </a:solidFill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E9DA9C2-E758-B32D-862F-3C5781E850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16561" y="2155371"/>
            <a:ext cx="7355840" cy="4200979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sz="2400" b="0" i="0">
                <a:latin typeface="Arial" panose="020B0604020202020204" pitchFamily="34" charset="0"/>
                <a:ea typeface="Noto Sans" panose="020B0502040504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9CF5241-613C-E4CA-1D10-3BAAD5CB5A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8DFB0F-4570-4E46-88F7-D5DC70EA90D0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36C186-ADAD-3B7B-D861-8C341799FC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8D53B5-11D3-EA23-8B10-6E7A43B826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CECB0-5B99-6C46-A59C-D11C8A5B2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88682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1/3 uni blue and image, white tex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9F4BD8-EB88-3A42-8B54-5F33FFD1784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6560" y="1647173"/>
            <a:ext cx="5679441" cy="421114"/>
          </a:xfrm>
          <a:prstGeom prst="rect">
            <a:avLst/>
          </a:prstGeom>
        </p:spPr>
        <p:txBody>
          <a:bodyPr anchor="t" anchorCtr="0"/>
          <a:lstStyle>
            <a:lvl1pPr>
              <a:defRPr sz="3200" b="1" i="0">
                <a:solidFill>
                  <a:schemeClr val="bg1"/>
                </a:solidFill>
                <a:latin typeface="Arial" panose="020B0604020202020204" pitchFamily="34" charset="0"/>
                <a:ea typeface="Noto Sans Black" panose="020B0502040504020204" pitchFamily="34" charset="0"/>
                <a:cs typeface="Arial" panose="020B0604020202020204" pitchFamily="34" charset="0"/>
              </a:defRPr>
            </a:lvl1pPr>
          </a:lstStyle>
          <a:p>
            <a:r>
              <a:rPr lang="en-GB" dirty="0"/>
              <a:t>Click to edit title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855A043-7FE9-49DD-6627-654086912E2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8077200" y="0"/>
            <a:ext cx="4114800" cy="6857999"/>
          </a:xfrm>
          <a:prstGeom prst="rect">
            <a:avLst/>
          </a:prstGeom>
          <a:solidFill>
            <a:schemeClr val="bg1"/>
          </a:solidFill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E9DA9C2-E758-B32D-862F-3C5781E850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16560" y="2155371"/>
            <a:ext cx="7479553" cy="4200979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sz="2400" b="0" i="0">
                <a:solidFill>
                  <a:schemeClr val="bg1"/>
                </a:solidFill>
                <a:latin typeface="Arial" panose="020B0604020202020204" pitchFamily="34" charset="0"/>
                <a:ea typeface="Noto Sans" panose="020B0502040504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9CF5241-613C-E4CA-1D10-3BAAD5CB5A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8DFB0F-4570-4E46-88F7-D5DC70EA90D0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36C186-ADAD-3B7B-D861-8C341799FC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8D53B5-11D3-EA23-8B10-6E7A43B826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CECB0-5B99-6C46-A59C-D11C8A5B2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96684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only uni blue bg white tex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9F4BD8-EB88-3A42-8B54-5F33FFD1784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6560" y="1647172"/>
            <a:ext cx="10937239" cy="579193"/>
          </a:xfrm>
          <a:prstGeom prst="rect">
            <a:avLst/>
          </a:prstGeom>
        </p:spPr>
        <p:txBody>
          <a:bodyPr anchor="t" anchorCtr="0"/>
          <a:lstStyle>
            <a:lvl1pPr>
              <a:defRPr sz="3200" b="1" i="0">
                <a:solidFill>
                  <a:schemeClr val="bg1"/>
                </a:solidFill>
                <a:latin typeface="Arial" panose="020B0604020202020204" pitchFamily="34" charset="0"/>
                <a:ea typeface="Noto Sans Black" panose="020B0502040504020204" pitchFamily="34" charset="0"/>
                <a:cs typeface="Arial" panose="020B0604020202020204" pitchFamily="34" charset="0"/>
              </a:defRPr>
            </a:lvl1pPr>
          </a:lstStyle>
          <a:p>
            <a:r>
              <a:rPr lang="en-GB" dirty="0"/>
              <a:t>Click to edit title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E9DA9C2-E758-B32D-862F-3C5781E850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16560" y="2325757"/>
            <a:ext cx="10937239" cy="403059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sz="2400" b="0" i="0">
                <a:solidFill>
                  <a:schemeClr val="bg1"/>
                </a:solidFill>
                <a:latin typeface="Arial" panose="020B0604020202020204" pitchFamily="34" charset="0"/>
                <a:ea typeface="Noto Sans" panose="020B0502040504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9CF5241-613C-E4CA-1D10-3BAAD5CB5A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8DFB0F-4570-4E46-88F7-D5DC70EA90D0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36C186-ADAD-3B7B-D861-8C341799FC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8D53B5-11D3-EA23-8B10-6E7A43B826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CECB0-5B99-6C46-A59C-D11C8A5B2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089325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F6A737C0-B872-156B-57AC-713C158F77D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6857999"/>
          </a:xfrm>
        </p:spPr>
        <p:txBody>
          <a:bodyPr/>
          <a:lstStyle>
            <a:lvl1pPr algn="ctr">
              <a:defRPr/>
            </a:lvl1pPr>
          </a:lstStyle>
          <a:p>
            <a: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9CF5241-613C-E4CA-1D10-3BAAD5CB5A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8DFB0F-4570-4E46-88F7-D5DC70EA90D0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36C186-ADAD-3B7B-D861-8C341799FC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8D53B5-11D3-EA23-8B10-6E7A43B826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CECB0-5B99-6C46-A59C-D11C8A5B2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872164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only whit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9F4BD8-EB88-3A42-8B54-5F33FFD1784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6560" y="1647172"/>
            <a:ext cx="10937239" cy="579193"/>
          </a:xfrm>
          <a:prstGeom prst="rect">
            <a:avLst/>
          </a:prstGeom>
        </p:spPr>
        <p:txBody>
          <a:bodyPr anchor="t" anchorCtr="0"/>
          <a:lstStyle>
            <a:lvl1pPr>
              <a:defRPr sz="3200" b="1" i="0">
                <a:latin typeface="Arial" panose="020B0604020202020204" pitchFamily="34" charset="0"/>
                <a:ea typeface="Noto Sans Black" panose="020B0502040504020204" pitchFamily="34" charset="0"/>
                <a:cs typeface="Arial" panose="020B0604020202020204" pitchFamily="34" charset="0"/>
              </a:defRPr>
            </a:lvl1pPr>
          </a:lstStyle>
          <a:p>
            <a:r>
              <a:rPr lang="en-GB" dirty="0"/>
              <a:t>Click to edit title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E9DA9C2-E758-B32D-862F-3C5781E850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16560" y="2325757"/>
            <a:ext cx="10937239" cy="403059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sz="2400" b="0" i="0">
                <a:solidFill>
                  <a:srgbClr val="002060"/>
                </a:solidFill>
                <a:latin typeface="Arial" panose="020B0604020202020204" pitchFamily="34" charset="0"/>
                <a:ea typeface="Noto Sans" panose="020B0502040504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9CF5241-613C-E4CA-1D10-3BAAD5CB5A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8DFB0F-4570-4E46-88F7-D5DC70EA90D0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36C186-ADAD-3B7B-D861-8C341799FC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8D53B5-11D3-EA23-8B10-6E7A43B826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CECB0-5B99-6C46-A59C-D11C8A5B2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2430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Text + 2 images, white b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9F4BD8-EB88-3A42-8B54-5F33FFD1784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6560" y="1647172"/>
            <a:ext cx="5583407" cy="796943"/>
          </a:xfrm>
          <a:prstGeom prst="rect">
            <a:avLst/>
          </a:prstGeom>
        </p:spPr>
        <p:txBody>
          <a:bodyPr anchor="t" anchorCtr="0"/>
          <a:lstStyle>
            <a:lvl1pPr>
              <a:defRPr sz="3200" b="1">
                <a:latin typeface="Arial" panose="020B0604020202020204" pitchFamily="34" charset="0"/>
                <a:ea typeface="Noto Sans Black" panose="020B0502040504020204" pitchFamily="34" charset="0"/>
                <a:cs typeface="Arial" panose="020B0604020202020204" pitchFamily="34" charset="0"/>
              </a:defRPr>
            </a:lvl1pPr>
          </a:lstStyle>
          <a:p>
            <a:r>
              <a:rPr lang="en-GB" dirty="0"/>
              <a:t>Click to edit title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855A043-7FE9-49DD-6627-654086912E2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192035" y="0"/>
            <a:ext cx="5999965" cy="33335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E9DA9C2-E758-B32D-862F-3C5781E850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16560" y="2661920"/>
            <a:ext cx="5583407" cy="369443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sz="2400" b="0" i="0">
                <a:latin typeface="Arial" panose="020B0604020202020204" pitchFamily="34" charset="0"/>
                <a:ea typeface="Noto Sans" panose="020B0502040504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9CF5241-613C-E4CA-1D10-3BAAD5CB5A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8DFB0F-4570-4E46-88F7-D5DC70EA90D0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36C186-ADAD-3B7B-D861-8C341799FC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8D53B5-11D3-EA23-8B10-6E7A43B826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CECB0-5B99-6C46-A59C-D11C8A5B2011}" type="slidenum">
              <a:rPr lang="en-US" smtClean="0"/>
              <a:t>‹#›</a:t>
            </a:fld>
            <a:endParaRPr lang="en-US"/>
          </a:p>
        </p:txBody>
      </p:sp>
      <p:sp>
        <p:nvSpPr>
          <p:cNvPr id="8" name="Picture Placeholder 2">
            <a:extLst>
              <a:ext uri="{FF2B5EF4-FFF2-40B4-BE49-F238E27FC236}">
                <a16:creationId xmlns:a16="http://schemas.microsoft.com/office/drawing/2014/main" id="{334D2249-BA53-6DE2-E46F-2399CF386EA0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6192035" y="3524490"/>
            <a:ext cx="5999965" cy="333351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75330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Text + 2 images, white + blue b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86B9D8B3-A168-0447-13B5-72CD0F28CB3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6096000" cy="6858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29F4BD8-EB88-3A42-8B54-5F33FFD1784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6560" y="1647172"/>
            <a:ext cx="5583407" cy="796943"/>
          </a:xfrm>
          <a:prstGeom prst="rect">
            <a:avLst/>
          </a:prstGeom>
        </p:spPr>
        <p:txBody>
          <a:bodyPr anchor="t" anchorCtr="0"/>
          <a:lstStyle>
            <a:lvl1pPr>
              <a:defRPr sz="3200" b="1">
                <a:solidFill>
                  <a:schemeClr val="bg1"/>
                </a:solidFill>
                <a:latin typeface="Arial" panose="020B0604020202020204" pitchFamily="34" charset="0"/>
                <a:ea typeface="Noto Sans Black" panose="020B0502040504020204" pitchFamily="34" charset="0"/>
                <a:cs typeface="Arial" panose="020B0604020202020204" pitchFamily="34" charset="0"/>
              </a:defRPr>
            </a:lvl1pPr>
          </a:lstStyle>
          <a:p>
            <a:r>
              <a:rPr lang="en-GB" dirty="0"/>
              <a:t>Click to edit title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855A043-7FE9-49DD-6627-654086912E2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192035" y="0"/>
            <a:ext cx="5999965" cy="33335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E9DA9C2-E758-B32D-862F-3C5781E850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16560" y="2661920"/>
            <a:ext cx="5583407" cy="369443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sz="2400" b="0" i="0">
                <a:solidFill>
                  <a:schemeClr val="bg1"/>
                </a:solidFill>
                <a:latin typeface="Arial" panose="020B0604020202020204" pitchFamily="34" charset="0"/>
                <a:ea typeface="Noto Sans" panose="020B0502040504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9CF5241-613C-E4CA-1D10-3BAAD5CB5A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8DFB0F-4570-4E46-88F7-D5DC70EA90D0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36C186-ADAD-3B7B-D861-8C341799FC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8D53B5-11D3-EA23-8B10-6E7A43B826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CECB0-5B99-6C46-A59C-D11C8A5B2011}" type="slidenum">
              <a:rPr lang="en-US" smtClean="0"/>
              <a:t>‹#›</a:t>
            </a:fld>
            <a:endParaRPr lang="en-US"/>
          </a:p>
        </p:txBody>
      </p:sp>
      <p:sp>
        <p:nvSpPr>
          <p:cNvPr id="8" name="Picture Placeholder 2">
            <a:extLst>
              <a:ext uri="{FF2B5EF4-FFF2-40B4-BE49-F238E27FC236}">
                <a16:creationId xmlns:a16="http://schemas.microsoft.com/office/drawing/2014/main" id="{334D2249-BA53-6DE2-E46F-2399CF386EA0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6192035" y="3524490"/>
            <a:ext cx="5999965" cy="333351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pic>
        <p:nvPicPr>
          <p:cNvPr id="10" name="Picture 9" descr="A blue rectangular sign with white text&#10;&#10;AI-generated content may be incorrect.">
            <a:extLst>
              <a:ext uri="{FF2B5EF4-FFF2-40B4-BE49-F238E27FC236}">
                <a16:creationId xmlns:a16="http://schemas.microsoft.com/office/drawing/2014/main" id="{76B1C5CD-C20D-B5EA-F6BE-53C0100C7AA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2984500" cy="1612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892936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3 images, white bg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9">
            <a:extLst>
              <a:ext uri="{FF2B5EF4-FFF2-40B4-BE49-F238E27FC236}">
                <a16:creationId xmlns:a16="http://schemas.microsoft.com/office/drawing/2014/main" id="{84781A64-A328-FD7F-ECFB-7F7ADBF16653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3429000"/>
            <a:ext cx="6096000" cy="3429000"/>
          </a:xfrm>
        </p:spPr>
        <p:txBody>
          <a:bodyPr/>
          <a:lstStyle>
            <a:lvl1pPr algn="ctr">
              <a:defRPr/>
            </a:lvl1pPr>
          </a:lstStyle>
          <a:p>
            <a: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15" name="Picture Placeholder 9">
            <a:extLst>
              <a:ext uri="{FF2B5EF4-FFF2-40B4-BE49-F238E27FC236}">
                <a16:creationId xmlns:a16="http://schemas.microsoft.com/office/drawing/2014/main" id="{39CC39D9-29B4-BBFC-86A1-F69597A14696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172200" y="3429000"/>
            <a:ext cx="6018342" cy="3429000"/>
          </a:xfrm>
        </p:spPr>
        <p:txBody>
          <a:bodyPr/>
          <a:lstStyle>
            <a:lvl1pPr algn="ctr">
              <a:defRPr/>
            </a:lvl1pPr>
          </a:lstStyle>
          <a:p>
            <a: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16" name="Picture Placeholder 9">
            <a:extLst>
              <a:ext uri="{FF2B5EF4-FFF2-40B4-BE49-F238E27FC236}">
                <a16:creationId xmlns:a16="http://schemas.microsoft.com/office/drawing/2014/main" id="{FAA911FE-751A-F313-B99A-2A865EB30234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6172200" y="1"/>
            <a:ext cx="6018342" cy="3339547"/>
          </a:xfrm>
        </p:spPr>
        <p:txBody>
          <a:bodyPr/>
          <a:lstStyle>
            <a:lvl1pPr algn="ctr">
              <a:defRPr/>
            </a:lvl1pPr>
          </a:lstStyle>
          <a:p>
            <a: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0838FAE-02E5-7DBF-B684-14132D01650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16560" y="1680883"/>
            <a:ext cx="5679440" cy="1658666"/>
          </a:xfrm>
        </p:spPr>
        <p:txBody>
          <a:bodyPr/>
          <a:lstStyle>
            <a:lvl1pPr marL="0" indent="0">
              <a:buNone/>
              <a:defRPr>
                <a:latin typeface="Arial" panose="020B0604020202020204" pitchFamily="34" charset="0"/>
                <a:ea typeface="Noto Sans" panose="020B0502040504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GB" dirty="0"/>
              <a:t>Click to add captions</a:t>
            </a:r>
          </a:p>
        </p:txBody>
      </p:sp>
    </p:spTree>
    <p:extLst>
      <p:ext uri="{BB962C8B-B14F-4D97-AF65-F5344CB8AC3E}">
        <p14:creationId xmlns:p14="http://schemas.microsoft.com/office/powerpoint/2010/main" val="30154966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3 images, blue + white bg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4DE5AB5-7A17-50DA-4242-6D14E324CA0B}"/>
              </a:ext>
            </a:extLst>
          </p:cNvPr>
          <p:cNvSpPr>
            <a:spLocks/>
          </p:cNvSpPr>
          <p:nvPr userDrawn="1"/>
        </p:nvSpPr>
        <p:spPr>
          <a:xfrm>
            <a:off x="0" y="0"/>
            <a:ext cx="6096000" cy="333954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Picture Placeholder 9">
            <a:extLst>
              <a:ext uri="{FF2B5EF4-FFF2-40B4-BE49-F238E27FC236}">
                <a16:creationId xmlns:a16="http://schemas.microsoft.com/office/drawing/2014/main" id="{84781A64-A328-FD7F-ECFB-7F7ADBF16653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3429000"/>
            <a:ext cx="6096000" cy="3429000"/>
          </a:xfrm>
        </p:spPr>
        <p:txBody>
          <a:bodyPr/>
          <a:lstStyle>
            <a:lvl1pPr algn="ctr">
              <a:defRPr/>
            </a:lvl1pPr>
          </a:lstStyle>
          <a:p>
            <a: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15" name="Picture Placeholder 9">
            <a:extLst>
              <a:ext uri="{FF2B5EF4-FFF2-40B4-BE49-F238E27FC236}">
                <a16:creationId xmlns:a16="http://schemas.microsoft.com/office/drawing/2014/main" id="{39CC39D9-29B4-BBFC-86A1-F69597A14696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172200" y="3429000"/>
            <a:ext cx="6018342" cy="3429000"/>
          </a:xfrm>
        </p:spPr>
        <p:txBody>
          <a:bodyPr/>
          <a:lstStyle>
            <a:lvl1pPr algn="ctr">
              <a:defRPr/>
            </a:lvl1pPr>
          </a:lstStyle>
          <a:p>
            <a: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16" name="Picture Placeholder 9">
            <a:extLst>
              <a:ext uri="{FF2B5EF4-FFF2-40B4-BE49-F238E27FC236}">
                <a16:creationId xmlns:a16="http://schemas.microsoft.com/office/drawing/2014/main" id="{FAA911FE-751A-F313-B99A-2A865EB30234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6172200" y="1"/>
            <a:ext cx="6018342" cy="3339547"/>
          </a:xfrm>
        </p:spPr>
        <p:txBody>
          <a:bodyPr/>
          <a:lstStyle>
            <a:lvl1pPr algn="ctr">
              <a:defRPr/>
            </a:lvl1pPr>
          </a:lstStyle>
          <a:p>
            <a: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0838FAE-02E5-7DBF-B684-14132D01650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16560" y="1680883"/>
            <a:ext cx="5679440" cy="1658666"/>
          </a:xfr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  <a:latin typeface="Arial" panose="020B0604020202020204" pitchFamily="34" charset="0"/>
                <a:ea typeface="Noto Sans" panose="020B0502040504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GB" dirty="0"/>
              <a:t>Click to add captions</a:t>
            </a:r>
          </a:p>
        </p:txBody>
      </p:sp>
      <p:pic>
        <p:nvPicPr>
          <p:cNvPr id="3" name="Picture 2" descr="A blue rectangular sign with white text&#10;&#10;AI-generated content may be incorrect.">
            <a:extLst>
              <a:ext uri="{FF2B5EF4-FFF2-40B4-BE49-F238E27FC236}">
                <a16:creationId xmlns:a16="http://schemas.microsoft.com/office/drawing/2014/main" id="{1FF62CBD-D6E9-1D28-4469-4A083650DE5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2984500" cy="1612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93880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sv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4BDB88-416D-2EA9-D090-7EC02B7DD89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58DFB0F-4570-4E46-88F7-D5DC70EA90D0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78006A-4400-3137-F66D-BC98965EFE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8125AD-3024-1F85-F919-E0F79325FC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AFCECB0-5B99-6C46-A59C-D11C8A5B2011}" type="slidenum">
              <a:rPr lang="en-US" smtClean="0"/>
              <a:t>‹#›</a:t>
            </a:fld>
            <a:endParaRPr lang="en-US"/>
          </a:p>
        </p:txBody>
      </p:sp>
      <p:sp>
        <p:nvSpPr>
          <p:cNvPr id="103" name="Text Placeholder 102">
            <a:extLst>
              <a:ext uri="{FF2B5EF4-FFF2-40B4-BE49-F238E27FC236}">
                <a16:creationId xmlns:a16="http://schemas.microsoft.com/office/drawing/2014/main" id="{C0719288-B710-76E1-C708-E70CAF4847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5938" y="1825625"/>
            <a:ext cx="10837862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5836656F-18A5-F5B5-73B1-E32ED102B964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0" y="0"/>
            <a:ext cx="2970463" cy="1603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57382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61" r:id="rId2"/>
    <p:sldLayoutId id="2147483690" r:id="rId3"/>
    <p:sldLayoutId id="2147483692" r:id="rId4"/>
    <p:sldLayoutId id="2147483696" r:id="rId5"/>
    <p:sldLayoutId id="2147483694" r:id="rId6"/>
    <p:sldLayoutId id="2147483676" r:id="rId7"/>
    <p:sldLayoutId id="2147483672" r:id="rId8"/>
    <p:sldLayoutId id="2147483686" r:id="rId9"/>
    <p:sldLayoutId id="2147483699" r:id="rId10"/>
    <p:sldLayoutId id="2147483685" r:id="rId11"/>
    <p:sldLayoutId id="2147483698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4" userDrawn="1">
          <p15:clr>
            <a:srgbClr val="F26B43"/>
          </p15:clr>
        </p15:guide>
        <p15:guide id="2" pos="325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2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2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2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11" Type="http://schemas.openxmlformats.org/officeDocument/2006/relationships/image" Target="../media/image18.png"/><Relationship Id="rId5" Type="http://schemas.openxmlformats.org/officeDocument/2006/relationships/image" Target="../media/image2.svg"/><Relationship Id="rId10" Type="http://schemas.openxmlformats.org/officeDocument/2006/relationships/image" Target="../media/image17.png"/><Relationship Id="rId4" Type="http://schemas.openxmlformats.org/officeDocument/2006/relationships/image" Target="../media/image1.png"/><Relationship Id="rId9" Type="http://schemas.openxmlformats.org/officeDocument/2006/relationships/image" Target="../media/image1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0.png"/><Relationship Id="rId5" Type="http://schemas.openxmlformats.org/officeDocument/2006/relationships/image" Target="../media/image170.png"/><Relationship Id="rId4" Type="http://schemas.openxmlformats.org/officeDocument/2006/relationships/image" Target="../media/image2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2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2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7AB46B-0243-369E-1AC6-49C9EFA94E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The Gilbert Scott Building">
            <a:extLst>
              <a:ext uri="{FF2B5EF4-FFF2-40B4-BE49-F238E27FC236}">
                <a16:creationId xmlns:a16="http://schemas.microsoft.com/office/drawing/2014/main" id="{8D5CD965-49CE-87E7-21F6-9C191FA971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92DDB6A4-43ED-3FA9-84E4-207F2CBAC70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57366" y="1700838"/>
            <a:ext cx="8299618" cy="1728162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en-US" altLang="zh-CN" sz="4400" dirty="0"/>
              <a:t>Identifying Key Indicators of Spam Emails: </a:t>
            </a:r>
            <a:br>
              <a:rPr lang="en-US" altLang="zh-CN" sz="4400" dirty="0"/>
            </a:br>
            <a:r>
              <a:rPr lang="en-US" altLang="zh-CN" sz="4400" dirty="0"/>
              <a:t>A GLM Approach</a:t>
            </a:r>
            <a:endParaRPr lang="en-US" sz="4400" dirty="0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943D176D-3CC1-6F03-FFAE-67680DCD3C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0"/>
            <a:ext cx="2970463" cy="1603375"/>
          </a:xfrm>
          <a:prstGeom prst="rect">
            <a:avLst/>
          </a:prstGeom>
        </p:spPr>
      </p:pic>
      <p:pic>
        <p:nvPicPr>
          <p:cNvPr id="3" name="Picture 2" descr="A blue and gold logo&#10;&#10;AI-generated content may be incorrect.">
            <a:extLst>
              <a:ext uri="{FF2B5EF4-FFF2-40B4-BE49-F238E27FC236}">
                <a16:creationId xmlns:a16="http://schemas.microsoft.com/office/drawing/2014/main" id="{3B56089B-A513-D923-9A78-14C6B8765FA7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67995" y="-229390"/>
            <a:ext cx="2624005" cy="1854663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3D68CEDF-6B55-FF7B-9492-532B9755F9B8}"/>
              </a:ext>
            </a:extLst>
          </p:cNvPr>
          <p:cNvSpPr txBox="1"/>
          <p:nvPr/>
        </p:nvSpPr>
        <p:spPr>
          <a:xfrm>
            <a:off x="357366" y="5157162"/>
            <a:ext cx="895559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rgbClr val="F2D25C"/>
                </a:solidFill>
              </a:rPr>
              <a:t>Group22</a:t>
            </a:r>
          </a:p>
          <a:p>
            <a:r>
              <a:rPr lang="en-US" altLang="zh-CN" dirty="0" err="1">
                <a:solidFill>
                  <a:srgbClr val="F2D25C"/>
                </a:solidFill>
              </a:rPr>
              <a:t>Jingyue</a:t>
            </a:r>
            <a:r>
              <a:rPr lang="en-US" altLang="zh-CN" dirty="0">
                <a:solidFill>
                  <a:srgbClr val="F2D25C"/>
                </a:solidFill>
              </a:rPr>
              <a:t> Hu; Xinyi Hu; </a:t>
            </a:r>
            <a:r>
              <a:rPr lang="en-US" altLang="zh-CN" dirty="0" err="1">
                <a:solidFill>
                  <a:srgbClr val="F2D25C"/>
                </a:solidFill>
              </a:rPr>
              <a:t>Zhengfu</a:t>
            </a:r>
            <a:r>
              <a:rPr lang="en-US" altLang="zh-CN" dirty="0">
                <a:solidFill>
                  <a:srgbClr val="F2D25C"/>
                </a:solidFill>
              </a:rPr>
              <a:t> LI; Ruijin LUO; Ziyue Tang; Mingjing ZHANG</a:t>
            </a:r>
            <a:endParaRPr lang="zh-CN" altLang="en-US" dirty="0">
              <a:solidFill>
                <a:srgbClr val="F2D25C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672564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7C7334-C11C-7C99-D29D-18E6C0E958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242B4A-A4D0-3745-0EA7-955B2C96F1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6560" y="1746564"/>
            <a:ext cx="5583407" cy="579193"/>
          </a:xfrm>
        </p:spPr>
        <p:txBody>
          <a:bodyPr/>
          <a:lstStyle/>
          <a:p>
            <a:r>
              <a:rPr lang="en-US" altLang="zh-CN" dirty="0"/>
              <a:t>Background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61DE975-AF16-01EB-D2DD-7F5E5C18E3A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16560" y="2981741"/>
            <a:ext cx="5467405" cy="2007702"/>
          </a:xfrm>
        </p:spPr>
        <p:txBody>
          <a:bodyPr/>
          <a:lstStyle/>
          <a:p>
            <a:r>
              <a:rPr lang="en-US" altLang="zh-CN" dirty="0"/>
              <a:t>Which text characteristics influence whether an email will be classified as spam or not?</a:t>
            </a:r>
          </a:p>
          <a:p>
            <a:endParaRPr lang="en-US" altLang="zh-CN" dirty="0"/>
          </a:p>
          <a:p>
            <a:r>
              <a:rPr lang="en-US" altLang="zh-CN" dirty="0"/>
              <a:t>Objective: Optimize Spam Filters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9D9DEADE-1EFB-E927-3847-4F21A2B728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0"/>
            <a:ext cx="2970463" cy="1603375"/>
          </a:xfrm>
          <a:prstGeom prst="rect">
            <a:avLst/>
          </a:prstGeom>
        </p:spPr>
      </p:pic>
      <p:pic>
        <p:nvPicPr>
          <p:cNvPr id="9" name="图片占位符 8">
            <a:extLst>
              <a:ext uri="{FF2B5EF4-FFF2-40B4-BE49-F238E27FC236}">
                <a16:creationId xmlns:a16="http://schemas.microsoft.com/office/drawing/2014/main" id="{F5D4D78A-32FB-3B12-5C8A-F5A14719644E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5"/>
          <a:srcRect t="11905" b="11905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12838851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图片 27">
            <a:extLst>
              <a:ext uri="{FF2B5EF4-FFF2-40B4-BE49-F238E27FC236}">
                <a16:creationId xmlns:a16="http://schemas.microsoft.com/office/drawing/2014/main" id="{04F6AFCD-94C8-B523-9F04-497C9C803B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6339" y="1093080"/>
            <a:ext cx="6165561" cy="54134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9AB6861-6CDC-6036-F147-243870A9DB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01952" y="512090"/>
            <a:ext cx="5583407" cy="579193"/>
          </a:xfrm>
        </p:spPr>
        <p:txBody>
          <a:bodyPr/>
          <a:lstStyle/>
          <a:p>
            <a:r>
              <a:rPr lang="en-US" altLang="zh-CN" dirty="0"/>
              <a:t>Data Cleaning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EA1B7035-10CA-EEBE-51FF-0EE7AB968F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0" y="0"/>
            <a:ext cx="2970463" cy="1603375"/>
          </a:xfrm>
          <a:prstGeom prst="rect">
            <a:avLst/>
          </a:prstGeom>
        </p:spPr>
      </p:pic>
      <p:sp>
        <p:nvSpPr>
          <p:cNvPr id="5" name="AutoShape 2" descr="已生成图片：电子邮件过滤过程演示">
            <a:extLst>
              <a:ext uri="{FF2B5EF4-FFF2-40B4-BE49-F238E27FC236}">
                <a16:creationId xmlns:a16="http://schemas.microsoft.com/office/drawing/2014/main" id="{1A2B0F35-953C-8797-C68F-C13B4865E72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CN" altLang="en-US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7717BC4E-A238-F0F2-746E-575E0F580AF8}"/>
              </a:ext>
            </a:extLst>
          </p:cNvPr>
          <p:cNvSpPr txBox="1"/>
          <p:nvPr/>
        </p:nvSpPr>
        <p:spPr>
          <a:xfrm>
            <a:off x="715541" y="4444520"/>
            <a:ext cx="500677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dirty="0"/>
              <a:t>Response (Y): yes/no (Spam vs. Non-spam)</a:t>
            </a:r>
          </a:p>
          <a:p>
            <a:r>
              <a:rPr lang="en-US" altLang="zh-CN" sz="1800" dirty="0"/>
              <a:t>Predictors (X): 6 text-based features</a:t>
            </a:r>
          </a:p>
        </p:txBody>
      </p:sp>
      <p:pic>
        <p:nvPicPr>
          <p:cNvPr id="34" name="图片 33">
            <a:extLst>
              <a:ext uri="{FF2B5EF4-FFF2-40B4-BE49-F238E27FC236}">
                <a16:creationId xmlns:a16="http://schemas.microsoft.com/office/drawing/2014/main" id="{3B163D00-C6C3-ADAF-EC03-1F9E16D10B2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3209" y="1851848"/>
            <a:ext cx="4035068" cy="20805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29027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4425-5659-6FC7-4B82-AF0E48F082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2418ED-9C54-40E8-F38F-68ED9790F2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01952" y="512090"/>
            <a:ext cx="6689918" cy="579193"/>
          </a:xfrm>
        </p:spPr>
        <p:txBody>
          <a:bodyPr/>
          <a:lstStyle/>
          <a:p>
            <a:r>
              <a:rPr lang="en-US" altLang="zh-CN" dirty="0"/>
              <a:t>Exploratory Data Analysis (EDA)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3B7F287F-3C89-291B-5B0B-4AF5AD0766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0"/>
            <a:ext cx="2970463" cy="1603375"/>
          </a:xfrm>
          <a:prstGeom prst="rect">
            <a:avLst/>
          </a:prstGeom>
        </p:spPr>
      </p:pic>
      <p:sp>
        <p:nvSpPr>
          <p:cNvPr id="5" name="AutoShape 2" descr="已生成图片：电子邮件过滤过程演示">
            <a:extLst>
              <a:ext uri="{FF2B5EF4-FFF2-40B4-BE49-F238E27FC236}">
                <a16:creationId xmlns:a16="http://schemas.microsoft.com/office/drawing/2014/main" id="{FA26F011-550B-A313-6E16-4ADCCC3DD78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11451"/>
              </a:solidFill>
              <a:effectLst/>
              <a:uLnTx/>
              <a:uFillTx/>
              <a:latin typeface="Arial" panose="020B0604020202020204"/>
              <a:ea typeface="黑体" panose="02010609060101010101" pitchFamily="49" charset="-122"/>
              <a:cs typeface="+mn-c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 Placeholder 3">
                <a:extLst>
                  <a:ext uri="{FF2B5EF4-FFF2-40B4-BE49-F238E27FC236}">
                    <a16:creationId xmlns:a16="http://schemas.microsoft.com/office/drawing/2014/main" id="{1580F711-16F0-BE17-8B36-6AA652827B4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76253" y="4887952"/>
                <a:ext cx="5006772" cy="1723026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0" indent="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b="0" i="0" kern="1200">
                    <a:solidFill>
                      <a:schemeClr val="tx1"/>
                    </a:solidFill>
                    <a:latin typeface="Arial" panose="020B0604020202020204" pitchFamily="34" charset="0"/>
                    <a:ea typeface="Noto Sans" panose="020B0502040504020204" pitchFamily="34" charset="0"/>
                    <a:cs typeface="Arial" panose="020B0604020202020204" pitchFamily="34" charset="0"/>
                  </a:defRPr>
                </a:lvl1pPr>
                <a:lvl2pPr marL="457200" indent="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None/>
                  <a:tabLst/>
                  <a:defRPr/>
                </a:pPr>
                <a:r>
                  <a:rPr kumimoji="0" lang="en-US" altLang="zh-CN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11451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Noto Sans" panose="020B0502040504020204" pitchFamily="34" charset="0"/>
                    <a:cs typeface="Arial" panose="020B0604020202020204" pitchFamily="34" charset="0"/>
                  </a:rPr>
                  <a:t>Sample Size: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None/>
                  <a:tabLst/>
                  <a:defRPr/>
                </a:pPr>
                <a:r>
                  <a:rPr kumimoji="0" lang="pt-BR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11451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Noto Sans" panose="020B0502040504020204" pitchFamily="34" charset="0"/>
                    <a:cs typeface="Arial" panose="020B0604020202020204" pitchFamily="34" charset="0"/>
                  </a:rPr>
                  <a:t>Total Observations: n = 920</a:t>
                </a:r>
              </a:p>
              <a:p>
                <a:pPr lvl="0">
                  <a:defRPr/>
                </a:pPr>
                <a:r>
                  <a:rPr lang="pt-BR" altLang="zh-CN" sz="2000" dirty="0">
                    <a:solidFill>
                      <a:srgbClr val="011451"/>
                    </a:solidFill>
                  </a:rPr>
                  <a:t>Non-</a:t>
                </a:r>
                <a:r>
                  <a:rPr kumimoji="0" lang="pt-BR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11451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Noto Sans" panose="020B0502040504020204" pitchFamily="34" charset="0"/>
                    <a:cs typeface="Arial" panose="020B0604020202020204" pitchFamily="34" charset="0"/>
                  </a:rPr>
                  <a:t>Spam: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0" lang="pt-BR" altLang="zh-CN" sz="2000" b="0" i="1" u="none" strike="noStrike" kern="1200" cap="none" spc="0" normalizeH="0" baseline="0" noProof="0" dirty="0" smtClean="0">
                            <a:ln>
                              <a:noFill/>
                            </a:ln>
                            <a:solidFill>
                              <a:srgbClr val="011451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Noto Sans" panose="020B0502040504020204" pitchFamily="34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kumimoji="0" lang="en-US" altLang="zh-CN" sz="2000" b="0" i="1" u="none" strike="noStrike" kern="1200" cap="none" spc="0" normalizeH="0" baseline="0" noProof="0" dirty="0" smtClean="0">
                            <a:ln>
                              <a:noFill/>
                            </a:ln>
                            <a:solidFill>
                              <a:srgbClr val="011451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Noto Sans" panose="020B0502040504020204" pitchFamily="34" charset="0"/>
                            <a:cs typeface="Arial" panose="020B0604020202020204" pitchFamily="34" charset="0"/>
                          </a:rPr>
                          <m:t>n</m:t>
                        </m:r>
                      </m:e>
                      <m:sub>
                        <m:r>
                          <a:rPr kumimoji="0" lang="en-US" altLang="zh-CN" sz="2000" b="0" i="1" u="none" strike="noStrike" kern="1200" cap="none" spc="0" normalizeH="0" baseline="0" noProof="0" dirty="0" smtClean="0">
                            <a:ln>
                              <a:noFill/>
                            </a:ln>
                            <a:solidFill>
                              <a:srgbClr val="011451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Noto Sans" panose="020B0502040504020204" pitchFamily="34" charset="0"/>
                            <a:cs typeface="Arial" panose="020B0604020202020204" pitchFamily="34" charset="0"/>
                          </a:rPr>
                          <m:t>1</m:t>
                        </m:r>
                      </m:sub>
                    </m:sSub>
                    <m:r>
                      <a:rPr kumimoji="0" lang="pt-BR" sz="2000" b="0" i="1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011451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Noto Sans" panose="020B0502040504020204" pitchFamily="34" charset="0"/>
                        <a:cs typeface="Arial" panose="020B0604020202020204" pitchFamily="34" charset="0"/>
                      </a:rPr>
                      <m:t> </m:t>
                    </m:r>
                  </m:oMath>
                </a14:m>
                <a:r>
                  <a:rPr kumimoji="0" lang="pt-BR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11451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Noto Sans" panose="020B0502040504020204" pitchFamily="34" charset="0"/>
                    <a:cs typeface="Arial" panose="020B0604020202020204" pitchFamily="34" charset="0"/>
                  </a:rPr>
                  <a:t>= </a:t>
                </a:r>
                <a:r>
                  <a:rPr lang="pt-BR" altLang="zh-CN" sz="2000" dirty="0">
                    <a:solidFill>
                      <a:srgbClr val="011451"/>
                    </a:solidFill>
                  </a:rPr>
                  <a:t>557 (</a:t>
                </a:r>
                <a:r>
                  <a:rPr lang="en-US" altLang="zh-CN" sz="2000" dirty="0">
                    <a:solidFill>
                      <a:srgbClr val="011451"/>
                    </a:solidFill>
                  </a:rPr>
                  <a:t>60.5%</a:t>
                </a:r>
                <a:r>
                  <a:rPr lang="pt-BR" altLang="zh-CN" sz="2000" dirty="0">
                    <a:solidFill>
                      <a:srgbClr val="011451"/>
                    </a:solidFill>
                  </a:rPr>
                  <a:t>)</a:t>
                </a:r>
                <a:endParaRPr kumimoji="0" lang="pt-BR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11451"/>
                  </a:solidFill>
                  <a:effectLst/>
                  <a:uLnTx/>
                  <a:uFillTx/>
                  <a:latin typeface="Arial" panose="020B0604020202020204" pitchFamily="34" charset="0"/>
                  <a:ea typeface="Noto Sans" panose="020B0502040504020204" pitchFamily="34" charset="0"/>
                  <a:cs typeface="Arial" panose="020B0604020202020204" pitchFamily="34" charset="0"/>
                </a:endParaRPr>
              </a:p>
              <a:p>
                <a:pPr lvl="0">
                  <a:defRPr/>
                </a:pPr>
                <a:r>
                  <a:rPr kumimoji="0" lang="pt-BR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11451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Noto Sans" panose="020B0502040504020204" pitchFamily="34" charset="0"/>
                    <a:cs typeface="Arial" panose="020B0604020202020204" pitchFamily="34" charset="0"/>
                  </a:rPr>
                  <a:t>Spam: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0" lang="pt-BR" altLang="zh-CN" sz="20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11451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Noto Sans" panose="020B0502040504020204" pitchFamily="34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kumimoji="0" lang="en-US" altLang="zh-CN" sz="20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11451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Noto Sans" panose="020B0502040504020204" pitchFamily="34" charset="0"/>
                            <a:cs typeface="Arial" panose="020B0604020202020204" pitchFamily="34" charset="0"/>
                          </a:rPr>
                          <m:t>n</m:t>
                        </m:r>
                      </m:e>
                      <m:sub>
                        <m:r>
                          <a:rPr kumimoji="0" lang="en-US" altLang="zh-CN" sz="20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11451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Noto Sans" panose="020B0502040504020204" pitchFamily="34" charset="0"/>
                            <a:cs typeface="Arial" panose="020B0604020202020204" pitchFamily="34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kumimoji="0" lang="pt-BR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11451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Noto Sans" panose="020B0502040504020204" pitchFamily="34" charset="0"/>
                    <a:cs typeface="Arial" panose="020B0604020202020204" pitchFamily="34" charset="0"/>
                  </a:rPr>
                  <a:t> =</a:t>
                </a:r>
                <a:r>
                  <a:rPr lang="pt-BR" altLang="zh-CN" sz="2000" dirty="0">
                    <a:solidFill>
                      <a:srgbClr val="011451"/>
                    </a:solidFill>
                  </a:rPr>
                  <a:t> 363(</a:t>
                </a:r>
                <a:r>
                  <a:rPr lang="en-US" altLang="zh-CN" sz="2000" dirty="0">
                    <a:solidFill>
                      <a:srgbClr val="011451"/>
                    </a:solidFill>
                  </a:rPr>
                  <a:t>39.5%)</a:t>
                </a: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11451"/>
                  </a:solidFill>
                  <a:effectLst/>
                  <a:uLnTx/>
                  <a:uFillTx/>
                  <a:latin typeface="Arial" panose="020B0604020202020204" pitchFamily="34" charset="0"/>
                  <a:ea typeface="Noto Sans" panose="020B0502040504020204" pitchFamily="34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17" name="Text Placeholder 3">
                <a:extLst>
                  <a:ext uri="{FF2B5EF4-FFF2-40B4-BE49-F238E27FC236}">
                    <a16:creationId xmlns:a16="http://schemas.microsoft.com/office/drawing/2014/main" id="{1580F711-16F0-BE17-8B36-6AA652827B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6253" y="4887952"/>
                <a:ext cx="5006772" cy="1723026"/>
              </a:xfrm>
              <a:prstGeom prst="rect">
                <a:avLst/>
              </a:prstGeom>
              <a:blipFill>
                <a:blip r:embed="rId5"/>
                <a:stretch>
                  <a:fillRect l="-1340" t="-354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图片 5">
            <a:extLst>
              <a:ext uri="{FF2B5EF4-FFF2-40B4-BE49-F238E27FC236}">
                <a16:creationId xmlns:a16="http://schemas.microsoft.com/office/drawing/2014/main" id="{0BD1C11F-228C-BDF6-924B-9DCC947F4C1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8566" y="1546750"/>
            <a:ext cx="4491906" cy="3341202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47C2DAF1-24C1-032E-C485-82A957973CD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25789" y="1714943"/>
            <a:ext cx="7438601" cy="4159083"/>
          </a:xfrm>
          <a:prstGeom prst="rect">
            <a:avLst/>
          </a:prstGeom>
        </p:spPr>
      </p:pic>
      <p:sp>
        <p:nvSpPr>
          <p:cNvPr id="10" name="矩形: 圆角 9">
            <a:extLst>
              <a:ext uri="{FF2B5EF4-FFF2-40B4-BE49-F238E27FC236}">
                <a16:creationId xmlns:a16="http://schemas.microsoft.com/office/drawing/2014/main" id="{BFC230EE-00B3-D727-FDA1-695608B2FE79}"/>
              </a:ext>
            </a:extLst>
          </p:cNvPr>
          <p:cNvSpPr/>
          <p:nvPr/>
        </p:nvSpPr>
        <p:spPr>
          <a:xfrm>
            <a:off x="4681330" y="2663687"/>
            <a:ext cx="7086600" cy="218661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6969AC18-9A01-E5D5-B6E6-3BD1DB787DB1}"/>
              </a:ext>
            </a:extLst>
          </p:cNvPr>
          <p:cNvSpPr/>
          <p:nvPr/>
        </p:nvSpPr>
        <p:spPr>
          <a:xfrm>
            <a:off x="4681330" y="4332227"/>
            <a:ext cx="7086600" cy="218661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18411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12807C-86F6-73F0-D940-05EED961B3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图片 21">
            <a:extLst>
              <a:ext uri="{FF2B5EF4-FFF2-40B4-BE49-F238E27FC236}">
                <a16:creationId xmlns:a16="http://schemas.microsoft.com/office/drawing/2014/main" id="{F77982EF-AB39-3007-5086-2F96EA5A61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2415" y="1001831"/>
            <a:ext cx="5337136" cy="380134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D6B6292-2BBB-894B-1C28-345DBA399B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01952" y="512090"/>
            <a:ext cx="9390048" cy="579193"/>
          </a:xfrm>
        </p:spPr>
        <p:txBody>
          <a:bodyPr/>
          <a:lstStyle/>
          <a:p>
            <a:r>
              <a:rPr lang="en-US" altLang="zh-CN" dirty="0"/>
              <a:t>Exploratory Data Analysis (EDA) - Key Findings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8F1C684F-48E4-B95E-05BA-202BDAA1FB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0" y="0"/>
            <a:ext cx="2970463" cy="1603375"/>
          </a:xfrm>
          <a:prstGeom prst="rect">
            <a:avLst/>
          </a:prstGeom>
        </p:spPr>
      </p:pic>
      <p:sp>
        <p:nvSpPr>
          <p:cNvPr id="5" name="AutoShape 2" descr="已生成图片：电子邮件过滤过程演示">
            <a:extLst>
              <a:ext uri="{FF2B5EF4-FFF2-40B4-BE49-F238E27FC236}">
                <a16:creationId xmlns:a16="http://schemas.microsoft.com/office/drawing/2014/main" id="{2C239930-2EE5-EE79-A7CA-13A33C966BD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11451"/>
              </a:solidFill>
              <a:effectLst/>
              <a:uLnTx/>
              <a:uFillTx/>
              <a:latin typeface="Arial" panose="020B0604020202020204"/>
              <a:ea typeface="黑体" panose="02010609060101010101" pitchFamily="49" charset="-122"/>
              <a:cs typeface="+mn-cs"/>
            </a:endParaRPr>
          </a:p>
        </p:txBody>
      </p:sp>
      <p:sp>
        <p:nvSpPr>
          <p:cNvPr id="17" name="Text Placeholder 3">
            <a:extLst>
              <a:ext uri="{FF2B5EF4-FFF2-40B4-BE49-F238E27FC236}">
                <a16:creationId xmlns:a16="http://schemas.microsoft.com/office/drawing/2014/main" id="{84252A1A-1620-9590-042E-944FB4772D05}"/>
              </a:ext>
            </a:extLst>
          </p:cNvPr>
          <p:cNvSpPr txBox="1">
            <a:spLocks/>
          </p:cNvSpPr>
          <p:nvPr/>
        </p:nvSpPr>
        <p:spPr>
          <a:xfrm>
            <a:off x="5069064" y="4742535"/>
            <a:ext cx="7046844" cy="160337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0" i="0" kern="1200">
                <a:solidFill>
                  <a:schemeClr val="tx1"/>
                </a:solidFill>
                <a:latin typeface="Arial" panose="020B0604020202020204" pitchFamily="34" charset="0"/>
                <a:ea typeface="Noto Sans" panose="020B0502040504020204" pitchFamily="34" charset="0"/>
                <a:cs typeface="Arial" panose="020B0604020202020204" pitchFamily="34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800" dirty="0"/>
              <a:t>Spam Indicators: Strong patterns observed in </a:t>
            </a:r>
            <a:r>
              <a:rPr lang="en-US" altLang="zh-CN" sz="1800" b="1" dirty="0"/>
              <a:t>dollar, bang, </a:t>
            </a:r>
            <a:r>
              <a:rPr lang="en-US" altLang="zh-CN" sz="1800" dirty="0"/>
              <a:t>and</a:t>
            </a:r>
            <a:r>
              <a:rPr lang="en-US" altLang="zh-CN" sz="1800" b="1" dirty="0"/>
              <a:t> money</a:t>
            </a:r>
            <a:r>
              <a:rPr lang="en-US" altLang="zh-CN" sz="1800" dirty="0"/>
              <a:t>.</a:t>
            </a:r>
          </a:p>
          <a:p>
            <a:r>
              <a:rPr lang="en-US" altLang="zh-CN" sz="1800" dirty="0"/>
              <a:t>Key Feature: String </a:t>
            </a:r>
            <a:r>
              <a:rPr lang="en-US" altLang="zh-CN" sz="1800" b="1" dirty="0"/>
              <a:t>n000</a:t>
            </a:r>
            <a:r>
              <a:rPr lang="en-US" altLang="zh-CN" sz="1800" dirty="0"/>
              <a:t> shows a distinct frequency spike in spam.</a:t>
            </a:r>
          </a:p>
          <a:p>
            <a:r>
              <a:rPr lang="en-US" altLang="zh-CN" sz="1800" dirty="0"/>
              <a:t>Weak Pattern: Variable </a:t>
            </a:r>
            <a:r>
              <a:rPr lang="en-US" altLang="zh-CN" sz="1800" b="1" dirty="0">
                <a:solidFill>
                  <a:srgbClr val="005398"/>
                </a:solidFill>
              </a:rPr>
              <a:t>make</a:t>
            </a:r>
            <a:r>
              <a:rPr lang="en-US" altLang="zh-CN" sz="1800" dirty="0"/>
              <a:t> appears less discriminative.</a:t>
            </a:r>
          </a:p>
          <a:p>
            <a:r>
              <a:rPr lang="en-US" altLang="zh-CN" sz="1800" dirty="0"/>
              <a:t>Model Suitability: Low multicollinearity; variables ready for Logistic Regression.</a:t>
            </a:r>
            <a:endParaRPr lang="en-US" sz="1800" dirty="0"/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7B4D5C47-C56A-4915-072B-51350162387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3187" y="1408206"/>
            <a:ext cx="2272305" cy="1746788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BE8DDB8C-EB72-8BA9-C172-399D2C78C5F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8586" y="3279913"/>
            <a:ext cx="2246906" cy="1746788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69BA644C-9E93-89C8-158B-2C0A3BA13E3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5544" y="5085275"/>
            <a:ext cx="2379948" cy="1623638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E98218A7-E9FA-787C-7A9F-AA43B4D8146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815492" y="1567366"/>
            <a:ext cx="2187496" cy="1623638"/>
          </a:xfrm>
          <a:prstGeom prst="rect">
            <a:avLst/>
          </a:prstGeom>
        </p:spPr>
      </p:pic>
      <p:pic>
        <p:nvPicPr>
          <p:cNvPr id="16" name="图片 15">
            <a:extLst>
              <a:ext uri="{FF2B5EF4-FFF2-40B4-BE49-F238E27FC236}">
                <a16:creationId xmlns:a16="http://schemas.microsoft.com/office/drawing/2014/main" id="{D46F2096-1D47-0A84-B634-68DF2083EA7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881568" y="3341488"/>
            <a:ext cx="2121420" cy="1623638"/>
          </a:xfrm>
          <a:prstGeom prst="rect">
            <a:avLst/>
          </a:prstGeom>
        </p:spPr>
      </p:pic>
      <p:pic>
        <p:nvPicPr>
          <p:cNvPr id="20" name="图片 19">
            <a:extLst>
              <a:ext uri="{FF2B5EF4-FFF2-40B4-BE49-F238E27FC236}">
                <a16:creationId xmlns:a16="http://schemas.microsoft.com/office/drawing/2014/main" id="{A42625EF-A074-40A2-D0B9-D066E674B861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801952" y="5085275"/>
            <a:ext cx="2180459" cy="1603375"/>
          </a:xfrm>
          <a:prstGeom prst="rect">
            <a:avLst/>
          </a:prstGeom>
        </p:spPr>
      </p:pic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CF255386-4A56-6366-A837-B33CA95EB0AD}"/>
              </a:ext>
            </a:extLst>
          </p:cNvPr>
          <p:cNvSpPr/>
          <p:nvPr/>
        </p:nvSpPr>
        <p:spPr>
          <a:xfrm>
            <a:off x="9233452" y="1848678"/>
            <a:ext cx="735496" cy="496957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77E862BD-FC1E-33BF-5E85-74FABA56934E}"/>
              </a:ext>
            </a:extLst>
          </p:cNvPr>
          <p:cNvSpPr/>
          <p:nvPr/>
        </p:nvSpPr>
        <p:spPr>
          <a:xfrm>
            <a:off x="6907545" y="1344955"/>
            <a:ext cx="735496" cy="496957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2F8DA5EB-D133-A090-B490-7266D5F46EF8}"/>
              </a:ext>
            </a:extLst>
          </p:cNvPr>
          <p:cNvSpPr/>
          <p:nvPr/>
        </p:nvSpPr>
        <p:spPr>
          <a:xfrm>
            <a:off x="8440983" y="1848678"/>
            <a:ext cx="735496" cy="496957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D8D26F7F-D1C8-986C-DF12-262B4DE7FCD4}"/>
              </a:ext>
            </a:extLst>
          </p:cNvPr>
          <p:cNvSpPr/>
          <p:nvPr/>
        </p:nvSpPr>
        <p:spPr>
          <a:xfrm>
            <a:off x="9968948" y="2991188"/>
            <a:ext cx="735496" cy="496957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419FEAA9-6022-523F-8B5B-61DB8AF22E4C}"/>
              </a:ext>
            </a:extLst>
          </p:cNvPr>
          <p:cNvSpPr/>
          <p:nvPr/>
        </p:nvSpPr>
        <p:spPr>
          <a:xfrm>
            <a:off x="8440983" y="1344955"/>
            <a:ext cx="735496" cy="496957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24094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710C1A-DC38-BE03-6D1F-C618537523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262BD4-5276-7CFF-53A1-9182513DB1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01952" y="512090"/>
            <a:ext cx="9390048" cy="579193"/>
          </a:xfrm>
        </p:spPr>
        <p:txBody>
          <a:bodyPr/>
          <a:lstStyle/>
          <a:p>
            <a:r>
              <a:rPr lang="en-US" altLang="zh-CN" dirty="0"/>
              <a:t>Statistical Analysis: Logistic Regression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F427C861-CAE9-D2DA-2DD0-9738335B9E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0"/>
            <a:ext cx="2970463" cy="1603375"/>
          </a:xfrm>
          <a:prstGeom prst="rect">
            <a:avLst/>
          </a:prstGeom>
        </p:spPr>
      </p:pic>
      <p:sp>
        <p:nvSpPr>
          <p:cNvPr id="5" name="AutoShape 2" descr="已生成图片：电子邮件过滤过程演示">
            <a:extLst>
              <a:ext uri="{FF2B5EF4-FFF2-40B4-BE49-F238E27FC236}">
                <a16:creationId xmlns:a16="http://schemas.microsoft.com/office/drawing/2014/main" id="{5998F82B-8FDA-D210-D926-A6550EF337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11451"/>
              </a:solidFill>
              <a:effectLst/>
              <a:uLnTx/>
              <a:uFillTx/>
              <a:latin typeface="Arial" panose="020B0604020202020204"/>
              <a:ea typeface="黑体" panose="02010609060101010101" pitchFamily="49" charset="-122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 Placeholder 3">
                <a:extLst>
                  <a:ext uri="{FF2B5EF4-FFF2-40B4-BE49-F238E27FC236}">
                    <a16:creationId xmlns:a16="http://schemas.microsoft.com/office/drawing/2014/main" id="{B851F29F-730C-1099-7C38-9803BF3A4B9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269775" y="3935896"/>
                <a:ext cx="9652448" cy="1723026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0" indent="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b="0" i="0" kern="1200">
                    <a:solidFill>
                      <a:schemeClr val="tx1"/>
                    </a:solidFill>
                    <a:latin typeface="Arial" panose="020B0604020202020204" pitchFamily="34" charset="0"/>
                    <a:ea typeface="Noto Sans" panose="020B0502040504020204" pitchFamily="34" charset="0"/>
                    <a:cs typeface="Arial" panose="020B0604020202020204" pitchFamily="34" charset="0"/>
                  </a:defRPr>
                </a:lvl1pPr>
                <a:lvl2pPr marL="457200" indent="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US" altLang="zh-CN" sz="2000" dirty="0">
                    <a:solidFill>
                      <a:srgbClr val="011451"/>
                    </a:solidFill>
                  </a:rPr>
                  <a:t>p is the probability that the email is spam.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2000" i="1">
                        <a:latin typeface="Cambria Math" panose="02040503050406030204" pitchFamily="18" charset="0"/>
                      </a:rPr>
                      <m:t>ln</m:t>
                    </m:r>
                    <m:r>
                      <a:rPr lang="en-US" altLang="zh-CN" sz="2000" i="1">
                        <a:latin typeface="Cambria Math" panose="02040503050406030204" pitchFamily="18" charset="0"/>
                      </a:rPr>
                      <m:t>(</m:t>
                    </m:r>
                    <m:f>
                      <m:fPr>
                        <m:ctrlPr>
                          <a:rPr lang="en-US" altLang="zh-CN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altLang="zh-CN" sz="2000" i="1">
                            <a:latin typeface="Cambria Math" panose="02040503050406030204" pitchFamily="18" charset="0"/>
                          </a:rPr>
                          <m:t>p</m:t>
                        </m:r>
                      </m:num>
                      <m:den>
                        <m:r>
                          <a:rPr lang="en-US" altLang="zh-CN" sz="2000" i="1">
                            <a:latin typeface="Cambria Math" panose="02040503050406030204" pitchFamily="18" charset="0"/>
                          </a:rPr>
                          <m:t>1−</m:t>
                        </m:r>
                        <m:r>
                          <m:rPr>
                            <m:sty m:val="p"/>
                          </m:rPr>
                          <a:rPr lang="en-US" altLang="zh-CN" sz="2000" i="1">
                            <a:latin typeface="Cambria Math" panose="02040503050406030204" pitchFamily="18" charset="0"/>
                          </a:rPr>
                          <m:t>p</m:t>
                        </m:r>
                      </m:den>
                    </m:f>
                    <m:r>
                      <a:rPr lang="en-US" altLang="zh-CN" sz="2000" i="1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zh-CN" sz="2000" dirty="0">
                    <a:solidFill>
                      <a:srgbClr val="011451"/>
                    </a:solidFill>
                  </a:rPr>
                  <a:t> is known as the log-odds.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CN" altLang="en-US" sz="2000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altLang="zh-CN" sz="20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altLang="zh-CN" sz="20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zh-CN" sz="2000" dirty="0">
                    <a:solidFill>
                      <a:srgbClr val="011451"/>
                    </a:solidFill>
                  </a:rPr>
                  <a:t>is the intercept,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CN" altLang="en-US" sz="2000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CN" sz="20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zh-CN" sz="2000" dirty="0">
                    <a:solidFill>
                      <a:srgbClr val="011451"/>
                    </a:solidFill>
                  </a:rPr>
                  <a:t>…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CN" altLang="en-US" sz="2000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  <m:r>
                      <a:rPr lang="en-US" altLang="zh-CN" sz="20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zh-CN" sz="2000" dirty="0">
                    <a:solidFill>
                      <a:srgbClr val="011451"/>
                    </a:solidFill>
                  </a:rPr>
                  <a:t>are the regression coefficients for each variable.</a:t>
                </a: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11451"/>
                  </a:solidFill>
                  <a:effectLst/>
                  <a:uLnTx/>
                  <a:uFillTx/>
                  <a:latin typeface="Arial" panose="020B0604020202020204" pitchFamily="34" charset="0"/>
                  <a:ea typeface="Noto Sans" panose="020B0502040504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27" name="Text Placeholder 3">
                <a:extLst>
                  <a:ext uri="{FF2B5EF4-FFF2-40B4-BE49-F238E27FC236}">
                    <a16:creationId xmlns:a16="http://schemas.microsoft.com/office/drawing/2014/main" id="{B851F29F-730C-1099-7C38-9803BF3A4B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69775" y="3935896"/>
                <a:ext cx="9652448" cy="1723026"/>
              </a:xfrm>
              <a:prstGeom prst="rect">
                <a:avLst/>
              </a:prstGeom>
              <a:blipFill>
                <a:blip r:embed="rId5"/>
                <a:stretch>
                  <a:fillRect l="-568" t="-354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2F981EA4-7462-0C0F-F02D-15FFE4C6338E}"/>
                  </a:ext>
                </a:extLst>
              </p:cNvPr>
              <p:cNvSpPr txBox="1"/>
              <p:nvPr/>
            </p:nvSpPr>
            <p:spPr>
              <a:xfrm>
                <a:off x="69414" y="2505786"/>
                <a:ext cx="12053171" cy="69461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CN" sz="2400" b="0" i="1" smtClean="0">
                          <a:latin typeface="Cambria Math" panose="02040503050406030204" pitchFamily="18" charset="0"/>
                        </a:rPr>
                        <m:t>ln</m:t>
                      </m:r>
                      <m:r>
                        <a:rPr lang="en-US" altLang="zh-CN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en-US" altLang="zh-CN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altLang="zh-CN" sz="2400" b="0" i="1" smtClean="0">
                              <a:latin typeface="Cambria Math" panose="02040503050406030204" pitchFamily="18" charset="0"/>
                            </a:rPr>
                            <m:t>p</m:t>
                          </m:r>
                        </m:num>
                        <m:den>
                          <m:r>
                            <a:rPr lang="en-US" altLang="zh-CN" sz="2400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m:rPr>
                              <m:sty m:val="p"/>
                            </m:rPr>
                            <a:rPr lang="en-US" altLang="zh-CN" sz="2400" b="0" i="1" smtClean="0">
                              <a:latin typeface="Cambria Math" panose="02040503050406030204" pitchFamily="18" charset="0"/>
                            </a:rPr>
                            <m:t>p</m:t>
                          </m:r>
                        </m:den>
                      </m:f>
                      <m:r>
                        <a:rPr lang="en-US" altLang="zh-CN" sz="2400" b="0" i="1" smtClean="0">
                          <a:latin typeface="Cambria Math" panose="02040503050406030204" pitchFamily="18" charset="0"/>
                        </a:rPr>
                        <m:t>)=</m:t>
                      </m:r>
                      <m:sSub>
                        <m:sSubPr>
                          <m:ctrlPr>
                            <a:rPr lang="en-US" altLang="zh-CN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sz="2400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altLang="zh-CN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altLang="zh-CN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sz="2400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altLang="zh-CN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zh-CN" altLang="en-US" sz="2400" i="1" smtClean="0">
                          <a:latin typeface="Cambria Math" panose="02040503050406030204" pitchFamily="18" charset="0"/>
                        </a:rPr>
                        <m:t>（</m:t>
                      </m:r>
                      <m:r>
                        <m:rPr>
                          <m:sty m:val="p"/>
                        </m:rPr>
                        <a:rPr lang="en-US" altLang="zh-CN" sz="2400" i="1">
                          <a:latin typeface="Cambria Math" panose="02040503050406030204" pitchFamily="18" charset="0"/>
                        </a:rPr>
                        <m:t>crl</m:t>
                      </m:r>
                      <m:r>
                        <a:rPr lang="en-US" altLang="zh-CN" sz="2400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CN" sz="2400" b="0" i="1" smtClean="0">
                          <a:latin typeface="Cambria Math" panose="02040503050406030204" pitchFamily="18" charset="0"/>
                        </a:rPr>
                        <m:t>tot</m:t>
                      </m:r>
                      <m:r>
                        <a:rPr lang="en-US" altLang="zh-CN" sz="2400" b="0" i="1" smtClean="0">
                          <a:latin typeface="Cambria Math" panose="02040503050406030204" pitchFamily="18" charset="0"/>
                        </a:rPr>
                        <m:t>)+</m:t>
                      </m:r>
                      <m:sSub>
                        <m:sSubPr>
                          <m:ctrlPr>
                            <a:rPr lang="en-US" altLang="zh-CN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sz="2400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altLang="zh-CN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CN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altLang="zh-CN" sz="2400" b="0" i="1" smtClean="0">
                          <a:latin typeface="Cambria Math" panose="02040503050406030204" pitchFamily="18" charset="0"/>
                        </a:rPr>
                        <m:t>dollar</m:t>
                      </m:r>
                      <m:r>
                        <a:rPr lang="en-US" altLang="zh-CN" sz="2400" b="0" i="1" smtClean="0">
                          <a:latin typeface="Cambria Math" panose="02040503050406030204" pitchFamily="18" charset="0"/>
                        </a:rPr>
                        <m:t>)+</m:t>
                      </m:r>
                      <m:sSub>
                        <m:sSubPr>
                          <m:ctrlPr>
                            <a:rPr lang="en-US" altLang="zh-CN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sz="2400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altLang="zh-CN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altLang="zh-CN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altLang="zh-CN" sz="2400" b="0" i="1" smtClean="0">
                          <a:latin typeface="Cambria Math" panose="02040503050406030204" pitchFamily="18" charset="0"/>
                        </a:rPr>
                        <m:t>bang</m:t>
                      </m:r>
                      <m:r>
                        <a:rPr lang="en-US" altLang="zh-CN" sz="2400" b="0" i="1" smtClean="0">
                          <a:latin typeface="Cambria Math" panose="02040503050406030204" pitchFamily="18" charset="0"/>
                        </a:rPr>
                        <m:t>)+</m:t>
                      </m:r>
                      <m:sSub>
                        <m:sSubPr>
                          <m:ctrlPr>
                            <a:rPr lang="en-US" altLang="zh-CN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sz="2400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altLang="zh-CN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en-US" altLang="zh-CN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altLang="zh-CN" sz="2400" b="0" i="1" smtClean="0">
                          <a:latin typeface="Cambria Math" panose="02040503050406030204" pitchFamily="18" charset="0"/>
                        </a:rPr>
                        <m:t>money</m:t>
                      </m:r>
                      <m:r>
                        <a:rPr lang="en-US" altLang="zh-CN" sz="2400" b="0" i="1" smtClean="0">
                          <a:latin typeface="Cambria Math" panose="02040503050406030204" pitchFamily="18" charset="0"/>
                        </a:rPr>
                        <m:t>)+</m:t>
                      </m:r>
                      <m:sSub>
                        <m:sSubPr>
                          <m:ctrlPr>
                            <a:rPr lang="en-US" altLang="zh-CN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sz="2400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altLang="zh-CN" sz="24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en-US" altLang="zh-CN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altLang="zh-CN" sz="2400" b="0" i="1" smtClean="0">
                          <a:latin typeface="Cambria Math" panose="02040503050406030204" pitchFamily="18" charset="0"/>
                        </a:rPr>
                        <m:t>n</m:t>
                      </m:r>
                      <m:r>
                        <a:rPr lang="en-US" altLang="zh-CN" sz="2400" b="0" i="1" smtClean="0">
                          <a:latin typeface="Cambria Math" panose="02040503050406030204" pitchFamily="18" charset="0"/>
                        </a:rPr>
                        <m:t>000)+</m:t>
                      </m:r>
                      <m:sSub>
                        <m:sSubPr>
                          <m:ctrlPr>
                            <a:rPr lang="en-US" altLang="zh-CN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sz="2400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altLang="zh-CN" sz="24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  <m:r>
                        <a:rPr lang="en-US" altLang="zh-CN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altLang="zh-CN" sz="2400" b="0" i="1" smtClean="0">
                          <a:latin typeface="Cambria Math" panose="02040503050406030204" pitchFamily="18" charset="0"/>
                        </a:rPr>
                        <m:t>make</m:t>
                      </m:r>
                      <m:r>
                        <a:rPr lang="en-US" altLang="zh-CN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CN" altLang="en-US" sz="2400" dirty="0"/>
              </a:p>
            </p:txBody>
          </p:sp>
        </mc:Choice>
        <mc:Fallback xmlns="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2F981EA4-7462-0C0F-F02D-15FFE4C633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414" y="2505786"/>
                <a:ext cx="12053171" cy="69461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142073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E13A0B-7244-9F74-9537-4C83AB2C51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85F44F-C314-88A1-5AD3-0ECA7014A6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01952" y="512090"/>
            <a:ext cx="9390048" cy="579193"/>
          </a:xfrm>
        </p:spPr>
        <p:txBody>
          <a:bodyPr/>
          <a:lstStyle/>
          <a:p>
            <a:r>
              <a:rPr lang="en-US" altLang="zh-CN" dirty="0"/>
              <a:t>Model Fitting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5CF01069-E3EA-B069-0971-2D806B344B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0"/>
            <a:ext cx="2970463" cy="1603375"/>
          </a:xfrm>
          <a:prstGeom prst="rect">
            <a:avLst/>
          </a:prstGeom>
        </p:spPr>
      </p:pic>
      <p:sp>
        <p:nvSpPr>
          <p:cNvPr id="5" name="AutoShape 2" descr="已生成图片：电子邮件过滤过程演示">
            <a:extLst>
              <a:ext uri="{FF2B5EF4-FFF2-40B4-BE49-F238E27FC236}">
                <a16:creationId xmlns:a16="http://schemas.microsoft.com/office/drawing/2014/main" id="{13440A79-0051-FE14-639C-297B6D28848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11451"/>
              </a:solidFill>
              <a:effectLst/>
              <a:uLnTx/>
              <a:uFillTx/>
              <a:latin typeface="Arial" panose="020B0604020202020204"/>
              <a:ea typeface="黑体" panose="02010609060101010101" pitchFamily="49" charset="-122"/>
              <a:cs typeface="+mn-cs"/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4478FEA2-C199-651C-93EA-A5F9188B2AA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30746" y="1455858"/>
            <a:ext cx="5225708" cy="4890052"/>
          </a:xfrm>
          <a:prstGeom prst="rect">
            <a:avLst/>
          </a:prstGeom>
        </p:spPr>
      </p:pic>
      <p:sp>
        <p:nvSpPr>
          <p:cNvPr id="8" name="矩形: 圆角 7">
            <a:extLst>
              <a:ext uri="{FF2B5EF4-FFF2-40B4-BE49-F238E27FC236}">
                <a16:creationId xmlns:a16="http://schemas.microsoft.com/office/drawing/2014/main" id="{5A51D3C2-203A-622C-BF57-0DE78653B8EE}"/>
              </a:ext>
            </a:extLst>
          </p:cNvPr>
          <p:cNvSpPr/>
          <p:nvPr/>
        </p:nvSpPr>
        <p:spPr>
          <a:xfrm>
            <a:off x="3330746" y="3150704"/>
            <a:ext cx="4213054" cy="188844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119C35B6-D53A-1658-4B69-DE3A0AC0AC7E}"/>
              </a:ext>
            </a:extLst>
          </p:cNvPr>
          <p:cNvSpPr/>
          <p:nvPr/>
        </p:nvSpPr>
        <p:spPr>
          <a:xfrm>
            <a:off x="3336931" y="3371022"/>
            <a:ext cx="4213054" cy="188844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01E5C71C-CC07-6EDA-41A9-905FB1321B3D}"/>
              </a:ext>
            </a:extLst>
          </p:cNvPr>
          <p:cNvSpPr/>
          <p:nvPr/>
        </p:nvSpPr>
        <p:spPr>
          <a:xfrm>
            <a:off x="3330746" y="3571461"/>
            <a:ext cx="4213054" cy="188844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9E6CD8A1-9D8C-4558-7D4F-A7B27C5A333A}"/>
              </a:ext>
            </a:extLst>
          </p:cNvPr>
          <p:cNvSpPr/>
          <p:nvPr/>
        </p:nvSpPr>
        <p:spPr>
          <a:xfrm>
            <a:off x="3330746" y="3770244"/>
            <a:ext cx="4213054" cy="188844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250737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6A3063-5E80-B94C-197F-0C2C685D0B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6E854F-45B7-652F-FA84-13637E7DBD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01952" y="512090"/>
            <a:ext cx="9390048" cy="579193"/>
          </a:xfrm>
        </p:spPr>
        <p:txBody>
          <a:bodyPr/>
          <a:lstStyle/>
          <a:p>
            <a:r>
              <a:rPr lang="en-US" altLang="zh-CN" dirty="0"/>
              <a:t>Model Selection &amp; Results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CB1D7E27-A202-89CD-8E10-7D5399114E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0"/>
            <a:ext cx="2970463" cy="1603375"/>
          </a:xfrm>
          <a:prstGeom prst="rect">
            <a:avLst/>
          </a:prstGeom>
        </p:spPr>
      </p:pic>
      <p:sp>
        <p:nvSpPr>
          <p:cNvPr id="5" name="AutoShape 2" descr="已生成图片：电子邮件过滤过程演示">
            <a:extLst>
              <a:ext uri="{FF2B5EF4-FFF2-40B4-BE49-F238E27FC236}">
                <a16:creationId xmlns:a16="http://schemas.microsoft.com/office/drawing/2014/main" id="{E8E16F7E-4698-09E8-A9D5-AE1E45B45BF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11451"/>
              </a:solidFill>
              <a:effectLst/>
              <a:uLnTx/>
              <a:uFillTx/>
              <a:latin typeface="Arial" panose="020B0604020202020204"/>
              <a:ea typeface="黑体" panose="02010609060101010101" pitchFamily="49" charset="-122"/>
              <a:cs typeface="+mn-cs"/>
            </a:endParaRPr>
          </a:p>
        </p:txBody>
      </p:sp>
      <p:sp>
        <p:nvSpPr>
          <p:cNvPr id="27" name="Text Placeholder 3">
            <a:extLst>
              <a:ext uri="{FF2B5EF4-FFF2-40B4-BE49-F238E27FC236}">
                <a16:creationId xmlns:a16="http://schemas.microsoft.com/office/drawing/2014/main" id="{B18A7C7A-2E5B-5D57-D6E3-B6CC16025993}"/>
              </a:ext>
            </a:extLst>
          </p:cNvPr>
          <p:cNvSpPr txBox="1">
            <a:spLocks/>
          </p:cNvSpPr>
          <p:nvPr/>
        </p:nvSpPr>
        <p:spPr>
          <a:xfrm>
            <a:off x="695733" y="2503592"/>
            <a:ext cx="6039679" cy="195023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0" i="0" kern="1200">
                <a:solidFill>
                  <a:schemeClr val="tx1"/>
                </a:solidFill>
                <a:latin typeface="Arial" panose="020B0604020202020204" pitchFamily="34" charset="0"/>
                <a:ea typeface="Noto Sans" panose="020B0502040504020204" pitchFamily="34" charset="0"/>
                <a:cs typeface="Arial" panose="020B0604020202020204" pitchFamily="34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800" dirty="0">
                <a:solidFill>
                  <a:srgbClr val="011451"/>
                </a:solidFill>
              </a:rPr>
              <a:t>Selection: Reduced model via backward elimination.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altLang="zh-CN" sz="1800" dirty="0">
                <a:solidFill>
                  <a:srgbClr val="011451"/>
                </a:solidFill>
              </a:rPr>
              <a:t>Full Model AIC: 766.44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altLang="zh-CN" sz="1800" dirty="0">
                <a:solidFill>
                  <a:srgbClr val="011451"/>
                </a:solidFill>
              </a:rPr>
              <a:t>Reduced Model AIC: 766.04</a:t>
            </a:r>
          </a:p>
          <a:p>
            <a:pPr lvl="0"/>
            <a:endParaRPr lang="en-US" altLang="zh-CN" sz="1800" dirty="0">
              <a:solidFill>
                <a:srgbClr val="011451"/>
              </a:solidFill>
            </a:endParaRPr>
          </a:p>
          <a:p>
            <a:pPr lvl="0"/>
            <a:r>
              <a:rPr lang="en-US" altLang="zh-CN" sz="1800" dirty="0">
                <a:solidFill>
                  <a:srgbClr val="011451"/>
                </a:solidFill>
              </a:rPr>
              <a:t>Improved parsimony without sacrificing predictive power.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11451"/>
              </a:solidFill>
              <a:effectLst/>
              <a:uLnTx/>
              <a:uFillTx/>
              <a:latin typeface="Arial" panose="020B0604020202020204" pitchFamily="34" charset="0"/>
              <a:ea typeface="Noto Sans" panose="020B0502040504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28EC6AB-C110-1467-1153-76BEFB029FE1}"/>
              </a:ext>
            </a:extLst>
          </p:cNvPr>
          <p:cNvSpPr txBox="1"/>
          <p:nvPr/>
        </p:nvSpPr>
        <p:spPr>
          <a:xfrm>
            <a:off x="560772" y="1538685"/>
            <a:ext cx="8945217" cy="8853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</a:pPr>
            <a:r>
              <a:rPr lang="en-US" altLang="zh-CN" sz="2400" b="1" dirty="0">
                <a:solidFill>
                  <a:srgbClr val="011451"/>
                </a:solidFill>
                <a:latin typeface="Arial" panose="020B0604020202020204" pitchFamily="34" charset="0"/>
                <a:ea typeface="Noto Sans" panose="020B0502040504020204" pitchFamily="34" charset="0"/>
                <a:cs typeface="Arial" panose="020B0604020202020204" pitchFamily="34" charset="0"/>
              </a:rPr>
              <a:t>Full : </a:t>
            </a:r>
            <a:r>
              <a:rPr lang="en-US" altLang="zh-CN" sz="2400" b="1" dirty="0" err="1">
                <a:solidFill>
                  <a:srgbClr val="011451"/>
                </a:solidFill>
                <a:latin typeface="Arial" panose="020B0604020202020204" pitchFamily="34" charset="0"/>
                <a:ea typeface="Noto Sans" panose="020B0502040504020204" pitchFamily="34" charset="0"/>
                <a:cs typeface="Arial" panose="020B0604020202020204" pitchFamily="34" charset="0"/>
              </a:rPr>
              <a:t>yesno</a:t>
            </a:r>
            <a:r>
              <a:rPr lang="en-US" altLang="zh-CN" sz="2400" b="1" dirty="0">
                <a:solidFill>
                  <a:srgbClr val="011451"/>
                </a:solidFill>
                <a:latin typeface="Arial" panose="020B0604020202020204" pitchFamily="34" charset="0"/>
                <a:ea typeface="Noto Sans" panose="020B0502040504020204" pitchFamily="34" charset="0"/>
                <a:cs typeface="Arial" panose="020B0604020202020204" pitchFamily="34" charset="0"/>
              </a:rPr>
              <a:t> ~ </a:t>
            </a:r>
            <a:r>
              <a:rPr lang="en-US" altLang="zh-CN" sz="2400" b="1" dirty="0" err="1">
                <a:solidFill>
                  <a:srgbClr val="011451"/>
                </a:solidFill>
                <a:latin typeface="Arial" panose="020B0604020202020204" pitchFamily="34" charset="0"/>
                <a:ea typeface="Noto Sans" panose="020B0502040504020204" pitchFamily="34" charset="0"/>
                <a:cs typeface="Arial" panose="020B0604020202020204" pitchFamily="34" charset="0"/>
              </a:rPr>
              <a:t>crl.tot</a:t>
            </a:r>
            <a:r>
              <a:rPr lang="en-US" altLang="zh-CN" sz="2400" b="1" dirty="0">
                <a:solidFill>
                  <a:srgbClr val="011451"/>
                </a:solidFill>
                <a:latin typeface="Arial" panose="020B0604020202020204" pitchFamily="34" charset="0"/>
                <a:ea typeface="Noto Sans" panose="020B0502040504020204" pitchFamily="34" charset="0"/>
                <a:cs typeface="Arial" panose="020B0604020202020204" pitchFamily="34" charset="0"/>
              </a:rPr>
              <a:t> + dollar + bang + money + n000 + </a:t>
            </a:r>
            <a:r>
              <a:rPr lang="en-US" altLang="zh-CN" sz="2400" b="1" dirty="0">
                <a:solidFill>
                  <a:srgbClr val="4DBBC6"/>
                </a:solidFill>
                <a:latin typeface="Arial" panose="020B0604020202020204" pitchFamily="34" charset="0"/>
                <a:ea typeface="Noto Sans" panose="020B0502040504020204" pitchFamily="34" charset="0"/>
                <a:cs typeface="Arial" panose="020B0604020202020204" pitchFamily="34" charset="0"/>
              </a:rPr>
              <a:t>make</a:t>
            </a:r>
          </a:p>
          <a:p>
            <a: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</a:pPr>
            <a:r>
              <a:rPr lang="en-US" altLang="zh-CN" sz="2400" b="1" dirty="0">
                <a:solidFill>
                  <a:srgbClr val="011451"/>
                </a:solidFill>
                <a:latin typeface="Arial" panose="020B0604020202020204" pitchFamily="34" charset="0"/>
                <a:ea typeface="Noto Sans" panose="020B0502040504020204" pitchFamily="34" charset="0"/>
                <a:cs typeface="Arial" panose="020B0604020202020204" pitchFamily="34" charset="0"/>
              </a:rPr>
              <a:t>Reduced : </a:t>
            </a:r>
            <a:r>
              <a:rPr lang="en-US" altLang="zh-CN" sz="2400" b="1" dirty="0" err="1">
                <a:solidFill>
                  <a:srgbClr val="011451"/>
                </a:solidFill>
                <a:latin typeface="Arial" panose="020B0604020202020204" pitchFamily="34" charset="0"/>
                <a:ea typeface="Noto Sans" panose="020B0502040504020204" pitchFamily="34" charset="0"/>
                <a:cs typeface="Arial" panose="020B0604020202020204" pitchFamily="34" charset="0"/>
              </a:rPr>
              <a:t>yesno</a:t>
            </a:r>
            <a:r>
              <a:rPr lang="en-US" altLang="zh-CN" sz="2400" b="1" dirty="0">
                <a:solidFill>
                  <a:srgbClr val="011451"/>
                </a:solidFill>
                <a:latin typeface="Arial" panose="020B0604020202020204" pitchFamily="34" charset="0"/>
                <a:ea typeface="Noto Sans" panose="020B0502040504020204" pitchFamily="34" charset="0"/>
                <a:cs typeface="Arial" panose="020B0604020202020204" pitchFamily="34" charset="0"/>
              </a:rPr>
              <a:t> ~ </a:t>
            </a:r>
            <a:r>
              <a:rPr lang="en-US" altLang="zh-CN" sz="2400" b="1" dirty="0" err="1">
                <a:solidFill>
                  <a:srgbClr val="011451"/>
                </a:solidFill>
                <a:latin typeface="Arial" panose="020B0604020202020204" pitchFamily="34" charset="0"/>
                <a:ea typeface="Noto Sans" panose="020B0502040504020204" pitchFamily="34" charset="0"/>
                <a:cs typeface="Arial" panose="020B0604020202020204" pitchFamily="34" charset="0"/>
              </a:rPr>
              <a:t>crl.tot</a:t>
            </a:r>
            <a:r>
              <a:rPr lang="en-US" altLang="zh-CN" sz="2400" b="1" dirty="0">
                <a:solidFill>
                  <a:srgbClr val="011451"/>
                </a:solidFill>
                <a:latin typeface="Arial" panose="020B0604020202020204" pitchFamily="34" charset="0"/>
                <a:ea typeface="Noto Sans" panose="020B0502040504020204" pitchFamily="34" charset="0"/>
                <a:cs typeface="Arial" panose="020B0604020202020204" pitchFamily="34" charset="0"/>
              </a:rPr>
              <a:t> + dollar + bang + money + n000</a:t>
            </a:r>
            <a:endParaRPr lang="zh-CN" altLang="en-US" sz="2400" b="1" dirty="0">
              <a:solidFill>
                <a:srgbClr val="01145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3762126E-49A6-8422-AC25-78EEB7F9E97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6663" y="2647757"/>
            <a:ext cx="4591691" cy="2372056"/>
          </a:xfrm>
          <a:prstGeom prst="rect">
            <a:avLst/>
          </a:prstGeom>
        </p:spPr>
      </p:pic>
      <p:sp>
        <p:nvSpPr>
          <p:cNvPr id="12" name="文本框 11">
            <a:extLst>
              <a:ext uri="{FF2B5EF4-FFF2-40B4-BE49-F238E27FC236}">
                <a16:creationId xmlns:a16="http://schemas.microsoft.com/office/drawing/2014/main" id="{84A32448-322D-2CF0-C2FF-8C9D0B6C6040}"/>
              </a:ext>
            </a:extLst>
          </p:cNvPr>
          <p:cNvSpPr txBox="1"/>
          <p:nvPr/>
        </p:nvSpPr>
        <p:spPr>
          <a:xfrm>
            <a:off x="7055303" y="4954006"/>
            <a:ext cx="476163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>
                <a:solidFill>
                  <a:srgbClr val="002060"/>
                </a:solidFill>
              </a:rPr>
              <a:t>dollar</a:t>
            </a:r>
            <a:r>
              <a:rPr lang="en-US" altLang="zh-CN" dirty="0">
                <a:solidFill>
                  <a:srgbClr val="002060"/>
                </a:solidFill>
              </a:rPr>
              <a:t>,</a:t>
            </a:r>
            <a:r>
              <a:rPr lang="en-US" altLang="zh-CN" b="1" dirty="0">
                <a:solidFill>
                  <a:srgbClr val="002060"/>
                </a:solidFill>
              </a:rPr>
              <a:t> money </a:t>
            </a:r>
            <a:r>
              <a:rPr lang="en-US" altLang="zh-CN" dirty="0"/>
              <a:t>are highly significant.</a:t>
            </a:r>
          </a:p>
          <a:p>
            <a:r>
              <a:rPr lang="en-US" altLang="zh-CN" b="1" dirty="0">
                <a:solidFill>
                  <a:srgbClr val="0070C0"/>
                </a:solidFill>
              </a:rPr>
              <a:t>n000</a:t>
            </a:r>
            <a:r>
              <a:rPr lang="en-US" altLang="zh-CN" dirty="0">
                <a:solidFill>
                  <a:srgbClr val="0070C0"/>
                </a:solidFill>
              </a:rPr>
              <a:t>,</a:t>
            </a:r>
            <a:r>
              <a:rPr lang="en-US" altLang="zh-CN" b="1" dirty="0">
                <a:solidFill>
                  <a:srgbClr val="0070C0"/>
                </a:solidFill>
              </a:rPr>
              <a:t> bang </a:t>
            </a:r>
            <a:r>
              <a:rPr lang="en-US" altLang="zh-CN" dirty="0"/>
              <a:t>are significant.</a:t>
            </a:r>
          </a:p>
          <a:p>
            <a:r>
              <a:rPr lang="en-US" altLang="zh-CN" b="1" dirty="0">
                <a:solidFill>
                  <a:srgbClr val="4DBBC6"/>
                </a:solidFill>
              </a:rPr>
              <a:t>Capital letters </a:t>
            </a:r>
            <a:r>
              <a:rPr lang="en-US" altLang="zh-CN" dirty="0"/>
              <a:t>have a negligible effect on predictions, or possibly no effect at all.</a:t>
            </a:r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ECF2992B-8E9B-A759-3F8A-F42861AD0AD1}"/>
              </a:ext>
            </a:extLst>
          </p:cNvPr>
          <p:cNvSpPr txBox="1">
            <a:spLocks/>
          </p:cNvSpPr>
          <p:nvPr/>
        </p:nvSpPr>
        <p:spPr>
          <a:xfrm>
            <a:off x="3100218" y="4959575"/>
            <a:ext cx="3846445" cy="103573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0" i="0" kern="1200">
                <a:solidFill>
                  <a:schemeClr val="tx1"/>
                </a:solidFill>
                <a:latin typeface="Arial" panose="020B0604020202020204" pitchFamily="34" charset="0"/>
                <a:ea typeface="Noto Sans" panose="020B0502040504020204" pitchFamily="34" charset="0"/>
                <a:cs typeface="Arial" panose="020B0604020202020204" pitchFamily="34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altLang="zh-CN" sz="1800" dirty="0"/>
              <a:t>Overall Accuracy: 83.04 %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altLang="zh-CN" sz="1800" dirty="0"/>
              <a:t>False Positive Rate: 6.1 %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altLang="zh-CN" sz="1800" dirty="0"/>
              <a:t>Sensitivity: 67.4%</a:t>
            </a:r>
            <a:endParaRPr kumimoji="0" lang="en-US" altLang="zh-CN" sz="1800" i="0" u="none" strike="noStrike" kern="1200" cap="none" spc="0" normalizeH="0" baseline="0" noProof="0" dirty="0">
              <a:ln>
                <a:noFill/>
              </a:ln>
              <a:solidFill>
                <a:srgbClr val="011451"/>
              </a:solidFill>
              <a:effectLst/>
              <a:uLnTx/>
              <a:uFillTx/>
              <a:latin typeface="Arial" panose="020B0604020202020204" pitchFamily="34" charset="0"/>
              <a:ea typeface="Noto Sans" panose="020B0502040504020204" pitchFamily="34" charset="0"/>
              <a:cs typeface="Arial" panose="020B0604020202020204" pitchFamily="34" charset="0"/>
            </a:endParaRPr>
          </a:p>
        </p:txBody>
      </p:sp>
      <p:pic>
        <p:nvPicPr>
          <p:cNvPr id="17" name="图片 16">
            <a:extLst>
              <a:ext uri="{FF2B5EF4-FFF2-40B4-BE49-F238E27FC236}">
                <a16:creationId xmlns:a16="http://schemas.microsoft.com/office/drawing/2014/main" id="{4AFB5237-92E2-81D8-43C9-591F4D5422C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5733" y="4932081"/>
            <a:ext cx="2295845" cy="1352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94703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4DC389-29C1-C94A-DA0F-2F1199009D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4BC013-05E6-6F75-E811-0E1D845367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01952" y="512090"/>
            <a:ext cx="9390048" cy="579193"/>
          </a:xfrm>
        </p:spPr>
        <p:txBody>
          <a:bodyPr/>
          <a:lstStyle/>
          <a:p>
            <a:r>
              <a:rPr lang="en-US" altLang="zh-CN" dirty="0"/>
              <a:t>Model Validation &amp; Performance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A3B6E82-E0E0-7EE5-8A09-8F124B375A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0"/>
            <a:ext cx="2970463" cy="1603375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92FB4C4D-57A2-CE58-F6DD-312256E2629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7525" y="1547748"/>
            <a:ext cx="5336658" cy="5138531"/>
          </a:xfrm>
          <a:prstGeom prst="rect">
            <a:avLst/>
          </a:prstGeom>
        </p:spPr>
      </p:pic>
      <p:sp>
        <p:nvSpPr>
          <p:cNvPr id="13" name="文本框 12">
            <a:extLst>
              <a:ext uri="{FF2B5EF4-FFF2-40B4-BE49-F238E27FC236}">
                <a16:creationId xmlns:a16="http://schemas.microsoft.com/office/drawing/2014/main" id="{74AA7DDB-6AA8-4581-E581-A7E8D8DF9A07}"/>
              </a:ext>
            </a:extLst>
          </p:cNvPr>
          <p:cNvSpPr txBox="1"/>
          <p:nvPr/>
        </p:nvSpPr>
        <p:spPr>
          <a:xfrm>
            <a:off x="1608495" y="1399284"/>
            <a:ext cx="609765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000" b="1" dirty="0"/>
              <a:t>80/20 Train-Test</a:t>
            </a:r>
            <a:endParaRPr lang="zh-CN" altLang="en-US" sz="2000" b="1" dirty="0"/>
          </a:p>
        </p:txBody>
      </p:sp>
      <p:pic>
        <p:nvPicPr>
          <p:cNvPr id="15" name="图片 14">
            <a:extLst>
              <a:ext uri="{FF2B5EF4-FFF2-40B4-BE49-F238E27FC236}">
                <a16:creationId xmlns:a16="http://schemas.microsoft.com/office/drawing/2014/main" id="{76ECB58B-873B-4494-DB47-A876C2DFFFE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73416" y="2573268"/>
            <a:ext cx="2534004" cy="1600423"/>
          </a:xfrm>
          <a:prstGeom prst="rect">
            <a:avLst/>
          </a:prstGeom>
        </p:spPr>
      </p:pic>
      <p:sp>
        <p:nvSpPr>
          <p:cNvPr id="17" name="文本框 16">
            <a:extLst>
              <a:ext uri="{FF2B5EF4-FFF2-40B4-BE49-F238E27FC236}">
                <a16:creationId xmlns:a16="http://schemas.microsoft.com/office/drawing/2014/main" id="{45B8194D-AD59-7126-565B-B296177D7246}"/>
              </a:ext>
            </a:extLst>
          </p:cNvPr>
          <p:cNvSpPr txBox="1"/>
          <p:nvPr/>
        </p:nvSpPr>
        <p:spPr>
          <a:xfrm>
            <a:off x="6834746" y="4548492"/>
            <a:ext cx="524425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Final Test Accuracy: 77.17 %</a:t>
            </a:r>
          </a:p>
          <a:p>
            <a:r>
              <a:rPr lang="en-US" altLang="zh-CN" dirty="0"/>
              <a:t>False Positive Rate (Unseen Data): 7.61 %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2514149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D9078D-EDE6-A865-E065-882E34FC7A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9FA565-F8BD-0CB4-868E-A179776679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01952" y="512090"/>
            <a:ext cx="9390048" cy="579193"/>
          </a:xfrm>
        </p:spPr>
        <p:txBody>
          <a:bodyPr/>
          <a:lstStyle/>
          <a:p>
            <a:r>
              <a:rPr lang="en-US" altLang="zh-CN" dirty="0"/>
              <a:t>Conclusion, Future Work &amp; Limitations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05949959-E398-3F66-3AED-AC116D6ED4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0"/>
            <a:ext cx="2970463" cy="1603375"/>
          </a:xfrm>
          <a:prstGeom prst="rect">
            <a:avLst/>
          </a:prstGeom>
        </p:spPr>
      </p:pic>
      <p:sp>
        <p:nvSpPr>
          <p:cNvPr id="5" name="Rectangle 1">
            <a:extLst>
              <a:ext uri="{FF2B5EF4-FFF2-40B4-BE49-F238E27FC236}">
                <a16:creationId xmlns:a16="http://schemas.microsoft.com/office/drawing/2014/main" id="{E022DCEC-739E-C931-316F-8029258EF17D}"/>
              </a:ext>
            </a:extLst>
          </p:cNvPr>
          <p:cNvSpPr>
            <a:spLocks noGrp="1" noChangeArrowheads="1"/>
          </p:cNvSpPr>
          <p:nvPr>
            <p:ph type="body" sz="half" idx="2"/>
          </p:nvPr>
        </p:nvSpPr>
        <p:spPr bwMode="auto">
          <a:xfrm>
            <a:off x="595313" y="2030065"/>
            <a:ext cx="11311765" cy="38472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zh-CN" dirty="0">
                <a:latin typeface="+mn-lt"/>
              </a:rPr>
              <a:t>Primary </a:t>
            </a:r>
            <a:r>
              <a:rPr lang="en-US" altLang="zh-CN" dirty="0">
                <a:latin typeface="+mn-lt"/>
              </a:rPr>
              <a:t>effect variables: </a:t>
            </a:r>
          </a:p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2000" b="1" dirty="0">
                <a:solidFill>
                  <a:srgbClr val="002060"/>
                </a:solidFill>
                <a:latin typeface="+mn-lt"/>
              </a:rPr>
              <a:t>dollar</a:t>
            </a:r>
            <a:r>
              <a:rPr lang="en-US" altLang="zh-CN" sz="2000" dirty="0">
                <a:latin typeface="+mn-lt"/>
              </a:rPr>
              <a:t> (P &lt; 0.001, OR ≈ 3573), </a:t>
            </a:r>
            <a:r>
              <a:rPr lang="en-US" altLang="zh-CN" sz="2000" b="1" dirty="0">
                <a:solidFill>
                  <a:srgbClr val="002060"/>
                </a:solidFill>
                <a:latin typeface="+mn-lt"/>
              </a:rPr>
              <a:t>money</a:t>
            </a:r>
            <a:r>
              <a:rPr lang="en-US" altLang="zh-CN" sz="2000" dirty="0">
                <a:latin typeface="+mn-lt"/>
              </a:rPr>
              <a:t> (P &lt; 0.001, OR ≈ 341)</a:t>
            </a:r>
          </a:p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dirty="0">
                <a:latin typeface="+mn-lt"/>
              </a:rPr>
              <a:t>Secondary effect variables: </a:t>
            </a:r>
          </a:p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2000" b="1" dirty="0">
                <a:solidFill>
                  <a:srgbClr val="0070C0"/>
                </a:solidFill>
                <a:latin typeface="+mn-lt"/>
              </a:rPr>
              <a:t>n000</a:t>
            </a:r>
            <a:r>
              <a:rPr lang="en-US" altLang="zh-CN" sz="2000" dirty="0">
                <a:latin typeface="+mn-lt"/>
              </a:rPr>
              <a:t> (P &lt; 0.01, OR ≈ 30.8), </a:t>
            </a:r>
            <a:r>
              <a:rPr lang="en-US" altLang="zh-CN" sz="2000" b="1" dirty="0">
                <a:solidFill>
                  <a:srgbClr val="0070C0"/>
                </a:solidFill>
                <a:latin typeface="+mn-lt"/>
              </a:rPr>
              <a:t>bang</a:t>
            </a:r>
            <a:r>
              <a:rPr lang="en-US" altLang="zh-CN" sz="2000" dirty="0">
                <a:latin typeface="+mn-lt"/>
              </a:rPr>
              <a:t> (P &lt; 0.001, OR ≈ 18.8)</a:t>
            </a:r>
          </a:p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dirty="0">
                <a:latin typeface="+mn-lt"/>
              </a:rPr>
              <a:t>Weak effect </a:t>
            </a:r>
            <a:r>
              <a:rPr lang="en-US" altLang="zh-CN" dirty="0"/>
              <a:t>Variables</a:t>
            </a:r>
            <a:r>
              <a:rPr lang="en-US" altLang="zh-CN" dirty="0">
                <a:latin typeface="+mn-lt"/>
              </a:rPr>
              <a:t>: </a:t>
            </a:r>
          </a:p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2000" b="1" dirty="0" err="1">
                <a:solidFill>
                  <a:srgbClr val="00B0F0"/>
                </a:solidFill>
                <a:latin typeface="+mn-lt"/>
              </a:rPr>
              <a:t>crl.tot</a:t>
            </a:r>
            <a:r>
              <a:rPr lang="en-US" altLang="zh-CN" sz="2000" b="1" dirty="0">
                <a:solidFill>
                  <a:srgbClr val="00B0F0"/>
                </a:solidFill>
                <a:latin typeface="+mn-lt"/>
              </a:rPr>
              <a:t> </a:t>
            </a:r>
            <a:r>
              <a:rPr lang="en-US" altLang="zh-CN" sz="2000" dirty="0">
                <a:latin typeface="+mn-lt"/>
              </a:rPr>
              <a:t>(P &lt; 0.01 (**), OR ≈ 1.001)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en-US" altLang="zh-CN" dirty="0">
              <a:latin typeface="+mn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zh-CN" altLang="zh-CN" sz="2000" dirty="0">
                <a:latin typeface="+mn-lt"/>
              </a:rPr>
              <a:t>Removing non-significant variables (e.g., </a:t>
            </a:r>
            <a:r>
              <a:rPr lang="zh-CN" altLang="zh-CN" sz="2000" dirty="0">
                <a:solidFill>
                  <a:srgbClr val="4DBBC6"/>
                </a:solidFill>
                <a:latin typeface="+mn-lt"/>
              </a:rPr>
              <a:t>make</a:t>
            </a:r>
            <a:r>
              <a:rPr lang="zh-CN" altLang="zh-CN" sz="2000" dirty="0">
                <a:latin typeface="+mn-lt"/>
              </a:rPr>
              <a:t>) achieved a more</a:t>
            </a:r>
            <a:r>
              <a:rPr lang="en-US" altLang="zh-CN" sz="2000" dirty="0">
                <a:latin typeface="+mn-lt"/>
              </a:rPr>
              <a:t> </a:t>
            </a:r>
            <a:r>
              <a:rPr lang="zh-CN" altLang="zh-CN" sz="2000" dirty="0">
                <a:latin typeface="+mn-lt"/>
              </a:rPr>
              <a:t>parsimonious and efficient filter.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en-US" altLang="zh-CN" dirty="0">
              <a:latin typeface="+mn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zh-CN" altLang="zh-CN" dirty="0">
                <a:latin typeface="+mn-lt"/>
              </a:rPr>
              <a:t>Performance</a:t>
            </a:r>
            <a:r>
              <a:rPr lang="en-US" altLang="zh-CN" dirty="0">
                <a:latin typeface="+mn-lt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zh-CN" altLang="zh-CN" sz="2000" b="1" dirty="0">
                <a:latin typeface="+mn-lt"/>
              </a:rPr>
              <a:t>83% Accuracy </a:t>
            </a:r>
            <a:r>
              <a:rPr lang="zh-CN" altLang="zh-CN" sz="2000" dirty="0">
                <a:latin typeface="+mn-lt"/>
              </a:rPr>
              <a:t>confirms text-based features are effective for real-world baseline filtering.</a:t>
            </a:r>
          </a:p>
        </p:txBody>
      </p:sp>
    </p:spTree>
    <p:extLst>
      <p:ext uri="{BB962C8B-B14F-4D97-AF65-F5344CB8AC3E}">
        <p14:creationId xmlns:p14="http://schemas.microsoft.com/office/powerpoint/2010/main" val="4592261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4AB311-EE0A-0EF3-88E2-0801A7BD5D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571986-8026-7E14-0D80-B08DBD36DE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01952" y="512090"/>
            <a:ext cx="9390048" cy="579193"/>
          </a:xfrm>
        </p:spPr>
        <p:txBody>
          <a:bodyPr/>
          <a:lstStyle/>
          <a:p>
            <a:r>
              <a:rPr lang="en-US" altLang="zh-CN" dirty="0"/>
              <a:t>Conclusion, Future Work &amp; Limitations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8CC4C293-E793-CA91-B167-A133A8453E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0"/>
            <a:ext cx="2970463" cy="1603375"/>
          </a:xfrm>
          <a:prstGeom prst="rect">
            <a:avLst/>
          </a:prstGeom>
        </p:spPr>
      </p:pic>
      <p:sp>
        <p:nvSpPr>
          <p:cNvPr id="7" name="Rectangle 3">
            <a:extLst>
              <a:ext uri="{FF2B5EF4-FFF2-40B4-BE49-F238E27FC236}">
                <a16:creationId xmlns:a16="http://schemas.microsoft.com/office/drawing/2014/main" id="{F3B30D93-977A-0F28-54ED-B29D2EFDBC7E}"/>
              </a:ext>
            </a:extLst>
          </p:cNvPr>
          <p:cNvSpPr>
            <a:spLocks noGrp="1" noChangeArrowheads="1"/>
          </p:cNvSpPr>
          <p:nvPr>
            <p:ph type="body" sz="half" idx="2"/>
          </p:nvPr>
        </p:nvSpPr>
        <p:spPr bwMode="auto">
          <a:xfrm>
            <a:off x="1632813" y="2231705"/>
            <a:ext cx="8926374" cy="27084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altLang="zh-CN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t>Limitations: </a:t>
            </a:r>
            <a:endParaRPr kumimoji="0" lang="en-US" altLang="zh-CN" sz="2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altLang="zh-CN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t>Model serves as a </a:t>
            </a:r>
            <a:r>
              <a:rPr kumimoji="0" lang="zh-CN" altLang="zh-CN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t>strong baseline</a:t>
            </a:r>
            <a:r>
              <a:rPr kumimoji="0" lang="zh-CN" altLang="zh-CN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t>, not a complete solution.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zh-CN" altLang="zh-C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</a:br>
            <a:r>
              <a:rPr kumimoji="0" lang="zh-CN" altLang="zh-CN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t>Future Enhancements: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zh-CN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t>1. </a:t>
            </a:r>
            <a:r>
              <a:rPr kumimoji="0" lang="zh-CN" altLang="zh-CN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t>Integrate advanced </a:t>
            </a:r>
            <a:r>
              <a:rPr kumimoji="0" lang="zh-CN" altLang="zh-CN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t>Natural Language Processing (NLP).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zh-CN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t>2. </a:t>
            </a:r>
            <a:r>
              <a:rPr kumimoji="0" lang="zh-CN" altLang="zh-CN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t>Test non-linear methods (e.g., </a:t>
            </a:r>
            <a:r>
              <a:rPr kumimoji="0" lang="zh-CN" altLang="zh-CN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t>Random Forest</a:t>
            </a:r>
            <a:r>
              <a:rPr kumimoji="0" lang="zh-CN" altLang="zh-CN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t>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zh-CN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t>3. </a:t>
            </a:r>
            <a:r>
              <a:rPr kumimoji="0" lang="zh-CN" altLang="zh-CN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t>Expand feature set beyond simple frequencies.</a:t>
            </a:r>
          </a:p>
        </p:txBody>
      </p:sp>
    </p:spTree>
    <p:extLst>
      <p:ext uri="{BB962C8B-B14F-4D97-AF65-F5344CB8AC3E}">
        <p14:creationId xmlns:p14="http://schemas.microsoft.com/office/powerpoint/2010/main" val="98978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92E70-17C3-F6A3-C664-1EC6A926F5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872DA7-4559-EAE7-0A55-6164FEEE2F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01952" y="512090"/>
            <a:ext cx="9390048" cy="579193"/>
          </a:xfrm>
        </p:spPr>
        <p:txBody>
          <a:bodyPr/>
          <a:lstStyle/>
          <a:p>
            <a:r>
              <a:rPr lang="en-US" altLang="zh-CN" dirty="0"/>
              <a:t>Q &amp; A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14E94004-93FF-2CCD-54D1-5D1C76E3E2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0"/>
            <a:ext cx="2970463" cy="1603375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A799EC5-D85E-E2D1-D81B-07643A9EAB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95464" y="3180522"/>
            <a:ext cx="10725206" cy="2788202"/>
          </a:xfrm>
        </p:spPr>
        <p:txBody>
          <a:bodyPr/>
          <a:lstStyle/>
          <a:p>
            <a:pPr algn="ctr"/>
            <a:r>
              <a:rPr lang="en-US" sz="4000" dirty="0"/>
              <a:t>Thanks for your listening!</a:t>
            </a:r>
          </a:p>
        </p:txBody>
      </p:sp>
    </p:spTree>
    <p:extLst>
      <p:ext uri="{BB962C8B-B14F-4D97-AF65-F5344CB8AC3E}">
        <p14:creationId xmlns:p14="http://schemas.microsoft.com/office/powerpoint/2010/main" val="38049681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University of Glasgow colours">
      <a:dk1>
        <a:srgbClr val="011451"/>
      </a:dk1>
      <a:lt1>
        <a:srgbClr val="FFFFFF"/>
      </a:lt1>
      <a:dk2>
        <a:srgbClr val="000000"/>
      </a:dk2>
      <a:lt2>
        <a:srgbClr val="E8E8E8"/>
      </a:lt2>
      <a:accent1>
        <a:srgbClr val="011451"/>
      </a:accent1>
      <a:accent2>
        <a:srgbClr val="F2D25C"/>
      </a:accent2>
      <a:accent3>
        <a:srgbClr val="4DBBC6"/>
      </a:accent3>
      <a:accent4>
        <a:srgbClr val="E98BAF"/>
      </a:accent4>
      <a:accent5>
        <a:srgbClr val="A5A1CE"/>
      </a:accent5>
      <a:accent6>
        <a:srgbClr val="81C071"/>
      </a:accent6>
      <a:hlink>
        <a:srgbClr val="467886"/>
      </a:hlink>
      <a:folHlink>
        <a:srgbClr val="96607D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8546</TotalTime>
  <Words>548</Words>
  <Application>Microsoft Office PowerPoint</Application>
  <PresentationFormat>宽屏</PresentationFormat>
  <Paragraphs>76</Paragraphs>
  <Slides>12</Slides>
  <Notes>11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16" baseType="lpstr">
      <vt:lpstr>Aptos</vt:lpstr>
      <vt:lpstr>Arial</vt:lpstr>
      <vt:lpstr>Cambria Math</vt:lpstr>
      <vt:lpstr>Office Theme</vt:lpstr>
      <vt:lpstr>Identifying Key Indicators of Spam Emails:  A GLM Approach</vt:lpstr>
      <vt:lpstr>Background</vt:lpstr>
      <vt:lpstr>Data Cleaning</vt:lpstr>
      <vt:lpstr>Exploratory Data Analysis (EDA)</vt:lpstr>
      <vt:lpstr>Exploratory Data Analysis (EDA) - Key Findings</vt:lpstr>
      <vt:lpstr>Statistical Analysis: Logistic Regression</vt:lpstr>
      <vt:lpstr>Model Fitting</vt:lpstr>
      <vt:lpstr>Model Selection &amp; Results</vt:lpstr>
      <vt:lpstr>Model Validation &amp; Performance</vt:lpstr>
      <vt:lpstr>Conclusion, Future Work &amp; Limitations</vt:lpstr>
      <vt:lpstr>Conclusion, Future Work &amp; Limitations</vt:lpstr>
      <vt:lpstr>Q &amp; 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Hedvanio Bezerra</dc:creator>
  <cp:lastModifiedBy>铭靖 张</cp:lastModifiedBy>
  <cp:revision>104</cp:revision>
  <dcterms:created xsi:type="dcterms:W3CDTF">2024-08-08T12:20:54Z</dcterms:created>
  <dcterms:modified xsi:type="dcterms:W3CDTF">2026-03-21T15:26:13Z</dcterms:modified>
</cp:coreProperties>
</file>