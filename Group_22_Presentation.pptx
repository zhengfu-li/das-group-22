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798" r:id="rId2"/>
    <p:sldId id="288" r:id="rId3"/>
    <p:sldId id="259" r:id="rId4"/>
    <p:sldId id="809" r:id="rId5"/>
    <p:sldId id="808" r:id="rId6"/>
    <p:sldId id="810" r:id="rId7"/>
    <p:sldId id="811" r:id="rId8"/>
    <p:sldId id="812" r:id="rId9"/>
    <p:sldId id="813" r:id="rId10"/>
    <p:sldId id="814" r:id="rId11"/>
    <p:sldId id="816" r:id="rId12"/>
    <p:sldId id="8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BBC6"/>
    <a:srgbClr val="FF0000"/>
    <a:srgbClr val="011451"/>
    <a:srgbClr val="005398"/>
    <a:srgbClr val="F2D25C"/>
    <a:srgbClr val="4C2683"/>
    <a:srgbClr val="405D18"/>
    <a:srgbClr val="7D2239"/>
    <a:srgbClr val="A60367"/>
    <a:srgbClr val="A5A1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89"/>
    <p:restoredTop sz="94626"/>
  </p:normalViewPr>
  <p:slideViewPr>
    <p:cSldViewPr snapToGrid="0">
      <p:cViewPr varScale="1">
        <p:scale>
          <a:sx n="77" d="100"/>
          <a:sy n="77" d="100"/>
        </p:scale>
        <p:origin x="1085" y="72"/>
      </p:cViewPr>
      <p:guideLst/>
    </p:cSldViewPr>
  </p:slideViewPr>
  <p:outlineViewPr>
    <p:cViewPr>
      <p:scale>
        <a:sx n="33" d="100"/>
        <a:sy n="33" d="100"/>
      </p:scale>
      <p:origin x="0" y="-116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CFF66-7EB0-9844-92BF-09704711A1F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7395D-33DE-5D42-A2E8-3486FD99F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5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E6140-0D8B-A571-11B9-12816C4FA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139C0-DDDB-6953-109F-5A7EC8CC3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763DE-AF29-A925-DD8A-9B38E1986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EE161-B99E-6AAA-0CE2-1076E8AB0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90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91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AA75F-E384-5C73-CFE4-4F5A1556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A04A8-85BE-4439-FDE1-6A53B944F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8BF72-7069-D6BC-D969-A1BA5B275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18C91-524A-D523-3136-95DD0A16E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167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96A2-C479-08A8-9333-34980F363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EED65-C370-A489-EE88-C191CD301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D7C19-5500-ADD1-3F40-C13C5855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7701C-17D4-5D7C-D7D8-C9396EABB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498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4348-9B58-D3F8-9430-0A29D75EA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4A173-CED1-2730-6494-1C5D2BFF7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F279D-69E2-A1FD-55B3-758DBDD2E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21D62-F8B4-CDF1-CC56-ECE12AB1C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3974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9FC2-E558-82EF-D95B-2CE36BEE5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B8FE2-0308-6EC9-A3A9-C9723C2D8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B6E04-8F58-0BBB-203B-3F297C669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7180F-2C43-6FC4-DAF7-E44AAFBD7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87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E0841-2BCF-F665-846F-1B358BB2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970F0-DD56-94DE-242B-AFCF7687A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69797-D190-45AA-F9D7-91C250C8D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45510-2DB7-52DC-CCEB-CB35FB1C8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542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F865E-4982-E9FB-67A1-47E9F52E2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5A68D-739A-B69B-3BC6-EEB12FC59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463DC-6C49-15C5-5F9A-1E14D058D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C823C-2B5F-6D57-DE58-EC3B38F9A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089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CAC9-E4EE-8903-EC8C-BF6744A6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BE0B4-89B2-DDBE-0F4E-21AFC471B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3BC07-1C53-6FC3-9E71-EA1FC18EF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C6CEF-2A26-4567-18FC-DA8B2A93F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310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3AD3-4CC9-98A4-0CBA-1C5B0FD7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4A81A-4C25-92EB-30C2-FCBD0976F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3774E-D65C-A493-D2D0-45170782E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05A0F-6C1A-3A21-8D24-26B1F0DA6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658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1C699-A3A8-3D3E-11D5-E07157B3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8CB18-C9D7-5887-9FF3-B47E99781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0AFB3-A621-AEAE-7B64-5CACFC8D1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A5597-0D24-F91E-1D85-64859BE93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327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ing/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9978F3-40AA-B047-B077-E6C1CE00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830048"/>
            <a:ext cx="6882938" cy="789709"/>
          </a:xfrm>
        </p:spPr>
        <p:txBody>
          <a:bodyPr/>
          <a:lstStyle>
            <a:lvl1pPr algn="l">
              <a:defRPr sz="3200" b="1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57762F7-94EF-0744-BA0E-BF26083BC2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36880" y="2619757"/>
            <a:ext cx="5933759" cy="622300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0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0/50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5583407" cy="579193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325757"/>
            <a:ext cx="5583407" cy="40305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1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0/50 uni blue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3"/>
            <a:ext cx="5679441" cy="421114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155371"/>
            <a:ext cx="5583407" cy="4200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/3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3"/>
            <a:ext cx="5679441" cy="421114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1" y="2155371"/>
            <a:ext cx="7355840" cy="4200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6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/3 uni blue and image,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3"/>
            <a:ext cx="5679441" cy="421114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155371"/>
            <a:ext cx="7479553" cy="4200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68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uni blue bg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10937239" cy="579193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325757"/>
            <a:ext cx="10937239" cy="40305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9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6A737C0-B872-156B-57AC-713C158F77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7999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2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10937239" cy="579193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325757"/>
            <a:ext cx="10937239" cy="40305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rgbClr val="002060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3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+ 2 images,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5583407" cy="796943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3333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661920"/>
            <a:ext cx="5583407" cy="36944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24490"/>
            <a:ext cx="5999965" cy="3333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33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+ 2 images, white +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B9D8B3-A168-0447-13B5-72CD0F28C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5583407" cy="796943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3333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661920"/>
            <a:ext cx="5583407" cy="36944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24490"/>
            <a:ext cx="5999965" cy="3333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pic>
        <p:nvPicPr>
          <p:cNvPr id="10" name="Picture 9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76B1C5CD-C20D-B5EA-F6BE-53C0100C7A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9845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29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,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560" y="1680883"/>
            <a:ext cx="5679440" cy="1658666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</p:spTree>
    <p:extLst>
      <p:ext uri="{BB962C8B-B14F-4D97-AF65-F5344CB8AC3E}">
        <p14:creationId xmlns:p14="http://schemas.microsoft.com/office/powerpoint/2010/main" val="3015496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, blue +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E5AB5-7A17-50DA-4242-6D14E324CA0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96000" cy="3339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560" y="1680883"/>
            <a:ext cx="5679440" cy="165866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  <p:pic>
        <p:nvPicPr>
          <p:cNvPr id="3" name="Picture 2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1FF62CBD-D6E9-1D28-4469-4A083650DE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9845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88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BDB88-416D-2EA9-D090-7EC02B7DD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DFB0F-4570-4E46-88F7-D5DC70EA90D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006A-4400-3137-F66D-BC98965EF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125AD-3024-1F85-F919-E0F79325F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C0719288-B710-76E1-C708-E70CAF484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825625"/>
            <a:ext cx="10837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36656F-18A5-F5B5-73B1-E32ED102B96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61" r:id="rId2"/>
    <p:sldLayoutId id="2147483690" r:id="rId3"/>
    <p:sldLayoutId id="2147483692" r:id="rId4"/>
    <p:sldLayoutId id="2147483696" r:id="rId5"/>
    <p:sldLayoutId id="2147483694" r:id="rId6"/>
    <p:sldLayoutId id="2147483676" r:id="rId7"/>
    <p:sldLayoutId id="2147483672" r:id="rId8"/>
    <p:sldLayoutId id="2147483686" r:id="rId9"/>
    <p:sldLayoutId id="2147483699" r:id="rId10"/>
    <p:sldLayoutId id="2147483685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3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2.svg"/><Relationship Id="rId10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B46B-0243-369E-1AC6-49C9EFA9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8D5CD965-49CE-87E7-21F6-9C191FA97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2DDB6A4-43ED-3FA9-84E4-207F2CBAC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366" y="1700838"/>
            <a:ext cx="8299618" cy="17281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4400" dirty="0"/>
              <a:t>Identifying Key Indicators of Spam Emails: </a:t>
            </a:r>
            <a:br>
              <a:rPr lang="en-US" altLang="zh-CN" sz="4400" dirty="0"/>
            </a:br>
            <a:r>
              <a:rPr lang="en-US" altLang="zh-CN" sz="4400" dirty="0"/>
              <a:t>A GLM Approach</a:t>
            </a:r>
            <a:endParaRPr lang="en-US" sz="44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43D176D-3CC1-6F03-FFAE-67680DCD3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pic>
        <p:nvPicPr>
          <p:cNvPr id="3" name="Picture 2" descr="A blue and gold logo&#10;&#10;AI-generated content may be incorrect.">
            <a:extLst>
              <a:ext uri="{FF2B5EF4-FFF2-40B4-BE49-F238E27FC236}">
                <a16:creationId xmlns:a16="http://schemas.microsoft.com/office/drawing/2014/main" id="{3B56089B-A513-D923-9A78-14C6B8765FA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7995" y="-229390"/>
            <a:ext cx="2624005" cy="18546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D68CEDF-6B55-FF7B-9492-532B9755F9B8}"/>
              </a:ext>
            </a:extLst>
          </p:cNvPr>
          <p:cNvSpPr txBox="1"/>
          <p:nvPr/>
        </p:nvSpPr>
        <p:spPr>
          <a:xfrm>
            <a:off x="357366" y="5157162"/>
            <a:ext cx="89555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2D25C"/>
                </a:solidFill>
              </a:rPr>
              <a:t>Group22</a:t>
            </a:r>
          </a:p>
          <a:p>
            <a:r>
              <a:rPr lang="en-US" altLang="zh-CN" dirty="0" err="1">
                <a:solidFill>
                  <a:srgbClr val="F2D25C"/>
                </a:solidFill>
              </a:rPr>
              <a:t>Jingyue</a:t>
            </a:r>
            <a:r>
              <a:rPr lang="en-US" altLang="zh-CN" dirty="0">
                <a:solidFill>
                  <a:srgbClr val="F2D25C"/>
                </a:solidFill>
              </a:rPr>
              <a:t> Hu; Xinyi Hu; </a:t>
            </a:r>
            <a:r>
              <a:rPr lang="en-US" altLang="zh-CN" dirty="0" err="1">
                <a:solidFill>
                  <a:srgbClr val="F2D25C"/>
                </a:solidFill>
              </a:rPr>
              <a:t>Zhengfu</a:t>
            </a:r>
            <a:r>
              <a:rPr lang="en-US" altLang="zh-CN" dirty="0">
                <a:solidFill>
                  <a:srgbClr val="F2D25C"/>
                </a:solidFill>
              </a:rPr>
              <a:t> LI; Ruijin LUO; Ziyue Tang; Mingjing ZHANG</a:t>
            </a:r>
            <a:endParaRPr lang="zh-CN" altLang="en-US" dirty="0">
              <a:solidFill>
                <a:srgbClr val="F2D2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25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C7334-C11C-7C99-D29D-18E6C0E95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2B4A-A4D0-3745-0EA7-955B2C96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1746564"/>
            <a:ext cx="5583407" cy="579193"/>
          </a:xfrm>
        </p:spPr>
        <p:txBody>
          <a:bodyPr/>
          <a:lstStyle/>
          <a:p>
            <a:r>
              <a:rPr lang="en-US" altLang="zh-CN" dirty="0"/>
              <a:t>Background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DE975-AF16-01EB-D2DD-7F5E5C18E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981741"/>
            <a:ext cx="5467405" cy="2007702"/>
          </a:xfrm>
        </p:spPr>
        <p:txBody>
          <a:bodyPr/>
          <a:lstStyle/>
          <a:p>
            <a:r>
              <a:rPr lang="en-US" altLang="zh-CN" dirty="0"/>
              <a:t>Which text characteristics influence whether an email will be classified as spam or not?</a:t>
            </a:r>
          </a:p>
          <a:p>
            <a:endParaRPr lang="en-US" altLang="zh-CN" dirty="0"/>
          </a:p>
          <a:p>
            <a:r>
              <a:rPr lang="en-US" altLang="zh-CN" dirty="0"/>
              <a:t>Objective: Optimize Spam Filters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9DEADE-1EFB-E927-3847-4F21A2B72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F5D4D78A-32FB-3B12-5C8A-F5A14719644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"/>
          <a:srcRect t="11905" b="119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8388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04F6AFCD-94C8-B523-9F04-497C9C803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339" y="1093080"/>
            <a:ext cx="6165561" cy="54134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AB6861-6CDC-6036-F147-243870A9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5583407" cy="579193"/>
          </a:xfrm>
        </p:spPr>
        <p:txBody>
          <a:bodyPr/>
          <a:lstStyle/>
          <a:p>
            <a:r>
              <a:rPr lang="en-US" altLang="zh-CN" dirty="0"/>
              <a:t>Data Cleaning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A1B7035-10CA-EEBE-51FF-0EE7AB968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5" name="AutoShape 2" descr="已生成图片：电子邮件过滤过程演示">
            <a:extLst>
              <a:ext uri="{FF2B5EF4-FFF2-40B4-BE49-F238E27FC236}">
                <a16:creationId xmlns:a16="http://schemas.microsoft.com/office/drawing/2014/main" id="{1A2B0F35-953C-8797-C68F-C13B4865E7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717BC4E-A238-F0F2-746E-575E0F580AF8}"/>
              </a:ext>
            </a:extLst>
          </p:cNvPr>
          <p:cNvSpPr txBox="1"/>
          <p:nvPr/>
        </p:nvSpPr>
        <p:spPr>
          <a:xfrm>
            <a:off x="715541" y="4444520"/>
            <a:ext cx="5006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Response (Y): yes/no (Spam vs. Non-spam)</a:t>
            </a:r>
          </a:p>
          <a:p>
            <a:r>
              <a:rPr lang="en-US" altLang="zh-CN" sz="1800" dirty="0"/>
              <a:t>Predictors (X): 6 text-based features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B163D00-C6C3-ADAF-EC03-1F9E16D10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09" y="1851848"/>
            <a:ext cx="4035068" cy="208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02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4425-5659-6FC7-4B82-AF0E48F0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18ED-9C54-40E8-F38F-68ED9790F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6689918" cy="579193"/>
          </a:xfrm>
        </p:spPr>
        <p:txBody>
          <a:bodyPr/>
          <a:lstStyle/>
          <a:p>
            <a:r>
              <a:rPr lang="en-US" altLang="zh-CN" dirty="0"/>
              <a:t>Exploratory Data Analysis (EDA)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B7F287F-3C89-291B-5B0B-4AF5AD076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5" name="AutoShape 2" descr="已生成图片：电子邮件过滤过程演示">
            <a:extLst>
              <a:ext uri="{FF2B5EF4-FFF2-40B4-BE49-F238E27FC236}">
                <a16:creationId xmlns:a16="http://schemas.microsoft.com/office/drawing/2014/main" id="{FA26F011-550B-A313-6E16-4ADCCC3DD7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3">
                <a:extLst>
                  <a:ext uri="{FF2B5EF4-FFF2-40B4-BE49-F238E27FC236}">
                    <a16:creationId xmlns:a16="http://schemas.microsoft.com/office/drawing/2014/main" id="{1580F711-16F0-BE17-8B36-6AA652827B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6253" y="4887952"/>
                <a:ext cx="5006772" cy="1723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Noto Sans" panose="020B0502040504020204" pitchFamily="34" charset="0"/>
                    <a:cs typeface="Arial" panose="020B0604020202020204" pitchFamily="34" charset="0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45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Noto Sans" panose="020B0502040504020204" pitchFamily="34" charset="0"/>
                    <a:cs typeface="Arial" panose="020B0604020202020204" pitchFamily="34" charset="0"/>
                  </a:rPr>
                  <a:t>Sample Size: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B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45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Noto Sans" panose="020B0502040504020204" pitchFamily="34" charset="0"/>
                    <a:cs typeface="Arial" panose="020B0604020202020204" pitchFamily="34" charset="0"/>
                  </a:rPr>
                  <a:t>Total Observations: n = 920</a:t>
                </a:r>
              </a:p>
              <a:p>
                <a:pPr lvl="0">
                  <a:defRPr/>
                </a:pPr>
                <a:r>
                  <a:rPr lang="pt-BR" altLang="zh-CN" sz="2000" dirty="0">
                    <a:solidFill>
                      <a:srgbClr val="011451"/>
                    </a:solidFill>
                  </a:rPr>
                  <a:t>Non-</a:t>
                </a:r>
                <a:r>
                  <a:rPr kumimoji="0" lang="pt-B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45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Noto Sans" panose="020B0502040504020204" pitchFamily="34" charset="0"/>
                    <a:cs typeface="Arial" panose="020B0604020202020204" pitchFamily="34" charset="0"/>
                  </a:rPr>
                  <a:t>Spam: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1145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1145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Arial" panose="020B0604020202020204" pitchFamily="34" charset="0"/>
                          </a:rPr>
                          <m:t>n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1145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kumimoji="0" lang="pt-BR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1145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Noto Sans" panose="020B0502040504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kumimoji="0" lang="pt-B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45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Noto Sans" panose="020B0502040504020204" pitchFamily="34" charset="0"/>
                    <a:cs typeface="Arial" panose="020B0604020202020204" pitchFamily="34" charset="0"/>
                  </a:rPr>
                  <a:t>= </a:t>
                </a:r>
                <a:r>
                  <a:rPr lang="pt-BR" altLang="zh-CN" sz="2000" dirty="0">
                    <a:solidFill>
                      <a:srgbClr val="011451"/>
                    </a:solidFill>
                  </a:rPr>
                  <a:t>557 (</a:t>
                </a:r>
                <a:r>
                  <a:rPr lang="en-US" altLang="zh-CN" sz="2000" dirty="0">
                    <a:solidFill>
                      <a:srgbClr val="011451"/>
                    </a:solidFill>
                  </a:rPr>
                  <a:t>60.5%</a:t>
                </a:r>
                <a:r>
                  <a:rPr lang="pt-BR" altLang="zh-CN" sz="2000" dirty="0">
                    <a:solidFill>
                      <a:srgbClr val="011451"/>
                    </a:solidFill>
                  </a:rPr>
                  <a:t>)</a:t>
                </a:r>
                <a:endParaRPr kumimoji="0" lang="pt-B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11451"/>
                  </a:solidFill>
                  <a:effectLst/>
                  <a:uLnTx/>
                  <a:uFillTx/>
                  <a:latin typeface="Arial" panose="020B0604020202020204" pitchFamily="34" charset="0"/>
                  <a:ea typeface="Noto Sans" panose="020B0502040504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:r>
                  <a:rPr kumimoji="0" lang="pt-B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45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Noto Sans" panose="020B0502040504020204" pitchFamily="34" charset="0"/>
                    <a:cs typeface="Arial" panose="020B0604020202020204" pitchFamily="34" charset="0"/>
                  </a:rPr>
                  <a:t>Spam: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1145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1145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Arial" panose="020B0604020202020204" pitchFamily="34" charset="0"/>
                          </a:rPr>
                          <m:t>n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1145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pt-B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45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Noto Sans" panose="020B0502040504020204" pitchFamily="34" charset="0"/>
                    <a:cs typeface="Arial" panose="020B0604020202020204" pitchFamily="34" charset="0"/>
                  </a:rPr>
                  <a:t> =</a:t>
                </a:r>
                <a:r>
                  <a:rPr lang="pt-BR" altLang="zh-CN" sz="2000" dirty="0">
                    <a:solidFill>
                      <a:srgbClr val="011451"/>
                    </a:solidFill>
                  </a:rPr>
                  <a:t> 363(</a:t>
                </a:r>
                <a:r>
                  <a:rPr lang="en-US" altLang="zh-CN" sz="2000" dirty="0">
                    <a:solidFill>
                      <a:srgbClr val="011451"/>
                    </a:solidFill>
                  </a:rPr>
                  <a:t>39.5%)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11451"/>
                  </a:solidFill>
                  <a:effectLst/>
                  <a:uLnTx/>
                  <a:uFillTx/>
                  <a:latin typeface="Arial" panose="020B0604020202020204" pitchFamily="34" charset="0"/>
                  <a:ea typeface="Noto Sans" panose="020B0502040504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 Placeholder 3">
                <a:extLst>
                  <a:ext uri="{FF2B5EF4-FFF2-40B4-BE49-F238E27FC236}">
                    <a16:creationId xmlns:a16="http://schemas.microsoft.com/office/drawing/2014/main" id="{1580F711-16F0-BE17-8B36-6AA652827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53" y="4887952"/>
                <a:ext cx="5006772" cy="1723026"/>
              </a:xfrm>
              <a:prstGeom prst="rect">
                <a:avLst/>
              </a:prstGeom>
              <a:blipFill>
                <a:blip r:embed="rId5"/>
                <a:stretch>
                  <a:fillRect l="-1340" t="-3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0BD1C11F-228C-BDF6-924B-9DCC947F4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566" y="1546750"/>
            <a:ext cx="4491906" cy="33412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7C2DAF1-24C1-032E-C485-82A957973C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5789" y="1714943"/>
            <a:ext cx="7438601" cy="4159083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FC230EE-00B3-D727-FDA1-695608B2FE79}"/>
              </a:ext>
            </a:extLst>
          </p:cNvPr>
          <p:cNvSpPr/>
          <p:nvPr/>
        </p:nvSpPr>
        <p:spPr>
          <a:xfrm>
            <a:off x="4681330" y="2663687"/>
            <a:ext cx="7086600" cy="2186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969AC18-9A01-E5D5-B6E6-3BD1DB787DB1}"/>
              </a:ext>
            </a:extLst>
          </p:cNvPr>
          <p:cNvSpPr/>
          <p:nvPr/>
        </p:nvSpPr>
        <p:spPr>
          <a:xfrm>
            <a:off x="4681330" y="4332227"/>
            <a:ext cx="7086600" cy="2186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41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2807C-86F6-73F0-D940-05EED961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F77982EF-AB39-3007-5086-2F96EA5A6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415" y="1001831"/>
            <a:ext cx="5337136" cy="3801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6B6292-2BBB-894B-1C28-345DBA39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9390048" cy="579193"/>
          </a:xfrm>
        </p:spPr>
        <p:txBody>
          <a:bodyPr/>
          <a:lstStyle/>
          <a:p>
            <a:r>
              <a:rPr lang="en-US" altLang="zh-CN" dirty="0"/>
              <a:t>Exploratory Data Analysis (EDA) - Key Findings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1C684F-48E4-B95E-05BA-202BDAA1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5" name="AutoShape 2" descr="已生成图片：电子邮件过滤过程演示">
            <a:extLst>
              <a:ext uri="{FF2B5EF4-FFF2-40B4-BE49-F238E27FC236}">
                <a16:creationId xmlns:a16="http://schemas.microsoft.com/office/drawing/2014/main" id="{2C239930-2EE5-EE79-A7CA-13A33C966B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4252A1A-1620-9590-042E-944FB4772D05}"/>
              </a:ext>
            </a:extLst>
          </p:cNvPr>
          <p:cNvSpPr txBox="1">
            <a:spLocks/>
          </p:cNvSpPr>
          <p:nvPr/>
        </p:nvSpPr>
        <p:spPr>
          <a:xfrm>
            <a:off x="5069064" y="4742535"/>
            <a:ext cx="7046844" cy="1603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Spam Indicators: Strong patterns observed in </a:t>
            </a:r>
            <a:r>
              <a:rPr lang="en-US" altLang="zh-CN" sz="1800" b="1" dirty="0"/>
              <a:t>dollar, bang, </a:t>
            </a:r>
            <a:r>
              <a:rPr lang="en-US" altLang="zh-CN" sz="1800" dirty="0"/>
              <a:t>and</a:t>
            </a:r>
            <a:r>
              <a:rPr lang="en-US" altLang="zh-CN" sz="1800" b="1" dirty="0"/>
              <a:t> money</a:t>
            </a:r>
            <a:r>
              <a:rPr lang="en-US" altLang="zh-CN" sz="1800" dirty="0"/>
              <a:t>.</a:t>
            </a:r>
          </a:p>
          <a:p>
            <a:r>
              <a:rPr lang="en-US" altLang="zh-CN" sz="1800" dirty="0"/>
              <a:t>Key Feature: String </a:t>
            </a:r>
            <a:r>
              <a:rPr lang="en-US" altLang="zh-CN" sz="1800" b="1" dirty="0"/>
              <a:t>n000</a:t>
            </a:r>
            <a:r>
              <a:rPr lang="en-US" altLang="zh-CN" sz="1800" dirty="0"/>
              <a:t> shows a distinct frequency spike in spam.</a:t>
            </a:r>
          </a:p>
          <a:p>
            <a:r>
              <a:rPr lang="en-US" altLang="zh-CN" sz="1800" dirty="0"/>
              <a:t>Weak Pattern: Variable </a:t>
            </a:r>
            <a:r>
              <a:rPr lang="en-US" altLang="zh-CN" sz="1800" b="1" dirty="0">
                <a:solidFill>
                  <a:srgbClr val="005398"/>
                </a:solidFill>
              </a:rPr>
              <a:t>make</a:t>
            </a:r>
            <a:r>
              <a:rPr lang="en-US" altLang="zh-CN" sz="1800" dirty="0"/>
              <a:t> appears less discriminative.</a:t>
            </a:r>
          </a:p>
          <a:p>
            <a:r>
              <a:rPr lang="en-US" altLang="zh-CN" sz="1800" dirty="0"/>
              <a:t>Model Suitability: Low multicollinearity; variables ready for Logistic Regression.</a:t>
            </a:r>
            <a:endParaRPr lang="en-US" sz="1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B4D5C47-C56A-4915-072B-513501623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87" y="1408206"/>
            <a:ext cx="2272305" cy="17467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E8DDB8C-EB72-8BA9-C172-399D2C78C5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586" y="3279913"/>
            <a:ext cx="2246906" cy="17467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9BA644C-9E93-89C8-158B-2C0A3BA13E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544" y="5085275"/>
            <a:ext cx="2379948" cy="162363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98218A7-E9FA-787C-7A9F-AA43B4D814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5492" y="1567366"/>
            <a:ext cx="2187496" cy="162363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46F2096-1D47-0A84-B634-68DF2083EA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1568" y="3341488"/>
            <a:ext cx="2121420" cy="162363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42625EF-A074-40A2-D0B9-D066E674B8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1952" y="5085275"/>
            <a:ext cx="2180459" cy="1603375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F255386-4A56-6366-A837-B33CA95EB0AD}"/>
              </a:ext>
            </a:extLst>
          </p:cNvPr>
          <p:cNvSpPr/>
          <p:nvPr/>
        </p:nvSpPr>
        <p:spPr>
          <a:xfrm>
            <a:off x="9233452" y="1848678"/>
            <a:ext cx="735496" cy="4969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7E862BD-FC1E-33BF-5E85-74FABA56934E}"/>
              </a:ext>
            </a:extLst>
          </p:cNvPr>
          <p:cNvSpPr/>
          <p:nvPr/>
        </p:nvSpPr>
        <p:spPr>
          <a:xfrm>
            <a:off x="6907545" y="1344955"/>
            <a:ext cx="735496" cy="4969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F8DA5EB-D133-A090-B490-7266D5F46EF8}"/>
              </a:ext>
            </a:extLst>
          </p:cNvPr>
          <p:cNvSpPr/>
          <p:nvPr/>
        </p:nvSpPr>
        <p:spPr>
          <a:xfrm>
            <a:off x="8440983" y="1848678"/>
            <a:ext cx="735496" cy="4969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8D26F7F-D1C8-986C-DF12-262B4DE7FCD4}"/>
              </a:ext>
            </a:extLst>
          </p:cNvPr>
          <p:cNvSpPr/>
          <p:nvPr/>
        </p:nvSpPr>
        <p:spPr>
          <a:xfrm>
            <a:off x="9968948" y="2991188"/>
            <a:ext cx="735496" cy="4969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19FEAA9-6022-523F-8B5B-61DB8AF22E4C}"/>
              </a:ext>
            </a:extLst>
          </p:cNvPr>
          <p:cNvSpPr/>
          <p:nvPr/>
        </p:nvSpPr>
        <p:spPr>
          <a:xfrm>
            <a:off x="8440983" y="1344955"/>
            <a:ext cx="735496" cy="4969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0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0C1A-DC38-BE03-6D1F-C6185375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2BD4-5276-7CFF-53A1-9182513D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9390048" cy="579193"/>
          </a:xfrm>
        </p:spPr>
        <p:txBody>
          <a:bodyPr/>
          <a:lstStyle/>
          <a:p>
            <a:r>
              <a:rPr lang="en-US" altLang="zh-CN" dirty="0"/>
              <a:t>Statistical Analysis: Logistic Regression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27C861-CAE9-D2DA-2DD0-9738335B9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5" name="AutoShape 2" descr="已生成图片：电子邮件过滤过程演示">
            <a:extLst>
              <a:ext uri="{FF2B5EF4-FFF2-40B4-BE49-F238E27FC236}">
                <a16:creationId xmlns:a16="http://schemas.microsoft.com/office/drawing/2014/main" id="{5998F82B-8FDA-D210-D926-A6550EF337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3">
                <a:extLst>
                  <a:ext uri="{FF2B5EF4-FFF2-40B4-BE49-F238E27FC236}">
                    <a16:creationId xmlns:a16="http://schemas.microsoft.com/office/drawing/2014/main" id="{B851F29F-730C-1099-7C38-9803BF3A4B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69775" y="3935896"/>
                <a:ext cx="9652448" cy="1723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Noto Sans" panose="020B0502040504020204" pitchFamily="34" charset="0"/>
                    <a:cs typeface="Arial" panose="020B0604020202020204" pitchFamily="34" charset="0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rgbClr val="011451"/>
                    </a:solidFill>
                  </a:rPr>
                  <a:t>p is the probability that the email is spam.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rgbClr val="011451"/>
                    </a:solidFill>
                  </a:rPr>
                  <a:t> is known as the log-odds.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rgbClr val="011451"/>
                    </a:solidFill>
                  </a:rPr>
                  <a:t>is the intercept,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rgbClr val="011451"/>
                    </a:solidFill>
                  </a:rPr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rgbClr val="011451"/>
                    </a:solidFill>
                  </a:rPr>
                  <a:t>are the regression coefficients for each variable.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11451"/>
                  </a:solidFill>
                  <a:effectLst/>
                  <a:uLnTx/>
                  <a:uFillTx/>
                  <a:latin typeface="Arial" panose="020B0604020202020204" pitchFamily="34" charset="0"/>
                  <a:ea typeface="Noto Sans" panose="020B0502040504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 Placeholder 3">
                <a:extLst>
                  <a:ext uri="{FF2B5EF4-FFF2-40B4-BE49-F238E27FC236}">
                    <a16:creationId xmlns:a16="http://schemas.microsoft.com/office/drawing/2014/main" id="{B851F29F-730C-1099-7C38-9803BF3A4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775" y="3935896"/>
                <a:ext cx="9652448" cy="1723026"/>
              </a:xfrm>
              <a:prstGeom prst="rect">
                <a:avLst/>
              </a:prstGeom>
              <a:blipFill>
                <a:blip r:embed="rId5"/>
                <a:stretch>
                  <a:fillRect l="-568" t="-3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981EA4-7462-0C0F-F02D-15FFE4C6338E}"/>
                  </a:ext>
                </a:extLst>
              </p:cNvPr>
              <p:cNvSpPr txBox="1"/>
              <p:nvPr/>
            </p:nvSpPr>
            <p:spPr>
              <a:xfrm>
                <a:off x="69414" y="2505786"/>
                <a:ext cx="12053171" cy="694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（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crl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tot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dollar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bang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money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000)+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make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981EA4-7462-0C0F-F02D-15FFE4C63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4" y="2505786"/>
                <a:ext cx="12053171" cy="694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207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3A0B-7244-9F74-9537-4C83AB2C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F44F-C314-88A1-5AD3-0ECA701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9390048" cy="579193"/>
          </a:xfrm>
        </p:spPr>
        <p:txBody>
          <a:bodyPr/>
          <a:lstStyle/>
          <a:p>
            <a:r>
              <a:rPr lang="en-US" altLang="zh-CN" dirty="0"/>
              <a:t>Model Fitting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F01069-E3EA-B069-0971-2D806B344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5" name="AutoShape 2" descr="已生成图片：电子邮件过滤过程演示">
            <a:extLst>
              <a:ext uri="{FF2B5EF4-FFF2-40B4-BE49-F238E27FC236}">
                <a16:creationId xmlns:a16="http://schemas.microsoft.com/office/drawing/2014/main" id="{13440A79-0051-FE14-639C-297B6D288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78FEA2-C199-651C-93EA-A5F9188B2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746" y="1455858"/>
            <a:ext cx="5225708" cy="4890052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A51D3C2-203A-622C-BF57-0DE78653B8EE}"/>
              </a:ext>
            </a:extLst>
          </p:cNvPr>
          <p:cNvSpPr/>
          <p:nvPr/>
        </p:nvSpPr>
        <p:spPr>
          <a:xfrm>
            <a:off x="3330746" y="3150704"/>
            <a:ext cx="4213054" cy="1888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19C35B6-D53A-1658-4B69-DE3A0AC0AC7E}"/>
              </a:ext>
            </a:extLst>
          </p:cNvPr>
          <p:cNvSpPr/>
          <p:nvPr/>
        </p:nvSpPr>
        <p:spPr>
          <a:xfrm>
            <a:off x="3336931" y="3371022"/>
            <a:ext cx="4213054" cy="1888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1E5C71C-CC07-6EDA-41A9-905FB1321B3D}"/>
              </a:ext>
            </a:extLst>
          </p:cNvPr>
          <p:cNvSpPr/>
          <p:nvPr/>
        </p:nvSpPr>
        <p:spPr>
          <a:xfrm>
            <a:off x="3330746" y="3571461"/>
            <a:ext cx="4213054" cy="1888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E6CD8A1-9D8C-4558-7D4F-A7B27C5A333A}"/>
              </a:ext>
            </a:extLst>
          </p:cNvPr>
          <p:cNvSpPr/>
          <p:nvPr/>
        </p:nvSpPr>
        <p:spPr>
          <a:xfrm>
            <a:off x="3330746" y="3770244"/>
            <a:ext cx="4213054" cy="1888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07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A3063-5E80-B94C-197F-0C2C685D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854F-45B7-652F-FA84-13637E7D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9390048" cy="579193"/>
          </a:xfrm>
        </p:spPr>
        <p:txBody>
          <a:bodyPr/>
          <a:lstStyle/>
          <a:p>
            <a:r>
              <a:rPr lang="en-US" altLang="zh-CN" dirty="0"/>
              <a:t>Model Selection &amp; Results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B1D7E27-A202-89CD-8E10-7D5399114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5" name="AutoShape 2" descr="已生成图片：电子邮件过滤过程演示">
            <a:extLst>
              <a:ext uri="{FF2B5EF4-FFF2-40B4-BE49-F238E27FC236}">
                <a16:creationId xmlns:a16="http://schemas.microsoft.com/office/drawing/2014/main" id="{E8E16F7E-4698-09E8-A9D5-AE1E45B45B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B18A7C7A-2E5B-5D57-D6E3-B6CC16025993}"/>
              </a:ext>
            </a:extLst>
          </p:cNvPr>
          <p:cNvSpPr txBox="1">
            <a:spLocks/>
          </p:cNvSpPr>
          <p:nvPr/>
        </p:nvSpPr>
        <p:spPr>
          <a:xfrm>
            <a:off x="695733" y="2503592"/>
            <a:ext cx="6039679" cy="1950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011451"/>
                </a:solidFill>
              </a:rPr>
              <a:t>Selection: Reduced model via backward elimination.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11451"/>
                </a:solidFill>
              </a:rPr>
              <a:t>Full Model AIC: 766.44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11451"/>
                </a:solidFill>
              </a:rPr>
              <a:t>Reduced Model AIC: 766.04</a:t>
            </a:r>
          </a:p>
          <a:p>
            <a:pPr lvl="0"/>
            <a:endParaRPr lang="en-US" altLang="zh-CN" sz="1800" dirty="0">
              <a:solidFill>
                <a:srgbClr val="011451"/>
              </a:solidFill>
            </a:endParaRPr>
          </a:p>
          <a:p>
            <a:pPr lvl="0"/>
            <a:r>
              <a:rPr lang="en-US" altLang="zh-CN" sz="1800" dirty="0">
                <a:solidFill>
                  <a:srgbClr val="011451"/>
                </a:solidFill>
              </a:rPr>
              <a:t>Improved parsimony without sacrificing predictive power.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8EC6AB-C110-1467-1153-76BEFB029FE1}"/>
              </a:ext>
            </a:extLst>
          </p:cNvPr>
          <p:cNvSpPr txBox="1"/>
          <p:nvPr/>
        </p:nvSpPr>
        <p:spPr>
          <a:xfrm>
            <a:off x="560772" y="1538685"/>
            <a:ext cx="8945217" cy="88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Full : </a:t>
            </a:r>
            <a:r>
              <a:rPr lang="en-US" altLang="zh-CN" sz="2400" b="1" dirty="0" err="1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yesno</a:t>
            </a:r>
            <a:r>
              <a:rPr lang="en-US" altLang="zh-CN" sz="2400" b="1" dirty="0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 ~ </a:t>
            </a:r>
            <a:r>
              <a:rPr lang="en-US" altLang="zh-CN" sz="2400" b="1" dirty="0" err="1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crl.tot</a:t>
            </a:r>
            <a:r>
              <a:rPr lang="en-US" altLang="zh-CN" sz="2400" b="1" dirty="0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 + dollar + bang + money + n000 + </a:t>
            </a:r>
            <a:r>
              <a:rPr lang="en-US" altLang="zh-CN" sz="2400" b="1" dirty="0">
                <a:solidFill>
                  <a:srgbClr val="4DBBC6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make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Reduced : </a:t>
            </a:r>
            <a:r>
              <a:rPr lang="en-US" altLang="zh-CN" sz="2400" b="1" dirty="0" err="1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yesno</a:t>
            </a:r>
            <a:r>
              <a:rPr lang="en-US" altLang="zh-CN" sz="2400" b="1" dirty="0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 ~ </a:t>
            </a:r>
            <a:r>
              <a:rPr lang="en-US" altLang="zh-CN" sz="2400" b="1" dirty="0" err="1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crl.tot</a:t>
            </a:r>
            <a:r>
              <a:rPr lang="en-US" altLang="zh-CN" sz="2400" b="1" dirty="0">
                <a:solidFill>
                  <a:srgbClr val="01145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 + dollar + bang + money + n000</a:t>
            </a:r>
            <a:endParaRPr lang="zh-CN" altLang="en-US" sz="2400" b="1" dirty="0">
              <a:solidFill>
                <a:srgbClr val="011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762126E-49A6-8422-AC25-78EEB7F9E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663" y="2647757"/>
            <a:ext cx="4591691" cy="237205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4A32448-322D-2CF0-C2FF-8C9D0B6C6040}"/>
              </a:ext>
            </a:extLst>
          </p:cNvPr>
          <p:cNvSpPr txBox="1"/>
          <p:nvPr/>
        </p:nvSpPr>
        <p:spPr>
          <a:xfrm>
            <a:off x="7055303" y="4954006"/>
            <a:ext cx="47616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dollar</a:t>
            </a:r>
            <a:r>
              <a:rPr lang="en-US" altLang="zh-CN" dirty="0">
                <a:solidFill>
                  <a:srgbClr val="002060"/>
                </a:solidFill>
              </a:rPr>
              <a:t>,</a:t>
            </a:r>
            <a:r>
              <a:rPr lang="en-US" altLang="zh-CN" b="1" dirty="0">
                <a:solidFill>
                  <a:srgbClr val="002060"/>
                </a:solidFill>
              </a:rPr>
              <a:t> money </a:t>
            </a:r>
            <a:r>
              <a:rPr lang="en-US" altLang="zh-CN" dirty="0"/>
              <a:t>are highly significant.</a:t>
            </a:r>
          </a:p>
          <a:p>
            <a:r>
              <a:rPr lang="en-US" altLang="zh-CN" b="1" dirty="0">
                <a:solidFill>
                  <a:srgbClr val="0070C0"/>
                </a:solidFill>
              </a:rPr>
              <a:t>n000</a:t>
            </a:r>
            <a:r>
              <a:rPr lang="en-US" altLang="zh-CN" dirty="0">
                <a:solidFill>
                  <a:srgbClr val="0070C0"/>
                </a:solidFill>
              </a:rPr>
              <a:t>,</a:t>
            </a:r>
            <a:r>
              <a:rPr lang="en-US" altLang="zh-CN" b="1" dirty="0">
                <a:solidFill>
                  <a:srgbClr val="0070C0"/>
                </a:solidFill>
              </a:rPr>
              <a:t> bang </a:t>
            </a:r>
            <a:r>
              <a:rPr lang="en-US" altLang="zh-CN" dirty="0"/>
              <a:t>are significant.</a:t>
            </a:r>
          </a:p>
          <a:p>
            <a:r>
              <a:rPr lang="en-US" altLang="zh-CN" b="1" dirty="0">
                <a:solidFill>
                  <a:srgbClr val="4DBBC6"/>
                </a:solidFill>
              </a:rPr>
              <a:t>Capital letters </a:t>
            </a:r>
            <a:r>
              <a:rPr lang="en-US" altLang="zh-CN" dirty="0"/>
              <a:t>have a negligible effect on predictions, or possibly no effect at all.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CF2992B-8E9B-A759-3F8A-F42861AD0AD1}"/>
              </a:ext>
            </a:extLst>
          </p:cNvPr>
          <p:cNvSpPr txBox="1">
            <a:spLocks/>
          </p:cNvSpPr>
          <p:nvPr/>
        </p:nvSpPr>
        <p:spPr>
          <a:xfrm>
            <a:off x="3100218" y="4959575"/>
            <a:ext cx="3846445" cy="1035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Overall Accuracy: 83.04 %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False Positive Rate: 6.1 %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Sensitivity: 67.4%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AFB5237-92E2-81D8-43C9-591F4D542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733" y="4932081"/>
            <a:ext cx="2295845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7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DC389-29C1-C94A-DA0F-2F119900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C013-05E6-6F75-E811-0E1D8453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9390048" cy="579193"/>
          </a:xfrm>
        </p:spPr>
        <p:txBody>
          <a:bodyPr/>
          <a:lstStyle/>
          <a:p>
            <a:r>
              <a:rPr lang="en-US" altLang="zh-CN" dirty="0"/>
              <a:t>Model Validation &amp; Performance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3B6E82-E0E0-7EE5-8A09-8F124B375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FB4C4D-57A2-CE58-F6DD-312256E26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25" y="1547748"/>
            <a:ext cx="5336658" cy="513853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4AA7DDB-6AA8-4581-E581-A7E8D8DF9A07}"/>
              </a:ext>
            </a:extLst>
          </p:cNvPr>
          <p:cNvSpPr txBox="1"/>
          <p:nvPr/>
        </p:nvSpPr>
        <p:spPr>
          <a:xfrm>
            <a:off x="1608495" y="1399284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80/20 Train-Test</a:t>
            </a:r>
            <a:endParaRPr lang="zh-CN" altLang="en-US" sz="2000" b="1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6ECB58B-873B-4494-DB47-A876C2DFF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3416" y="2573268"/>
            <a:ext cx="2534004" cy="160042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5B8194D-AD59-7126-565B-B296177D7246}"/>
              </a:ext>
            </a:extLst>
          </p:cNvPr>
          <p:cNvSpPr txBox="1"/>
          <p:nvPr/>
        </p:nvSpPr>
        <p:spPr>
          <a:xfrm>
            <a:off x="6834746" y="4548492"/>
            <a:ext cx="5244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Final Test Accuracy: 77.17 %</a:t>
            </a:r>
          </a:p>
          <a:p>
            <a:r>
              <a:rPr lang="en-US" altLang="zh-CN" dirty="0"/>
              <a:t>False Positive Rate (Unseen Data): 7.61 %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141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9078D-EDE6-A865-E065-882E34FC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A565-F8BD-0CB4-868E-A17977667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9390048" cy="579193"/>
          </a:xfrm>
        </p:spPr>
        <p:txBody>
          <a:bodyPr/>
          <a:lstStyle/>
          <a:p>
            <a:r>
              <a:rPr lang="en-US" altLang="zh-CN" dirty="0"/>
              <a:t>Conclusion, Future Work &amp; Limitations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5949959-E398-3F66-3AED-AC116D6ED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022DCEC-739E-C931-316F-8029258EF17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95313" y="1533777"/>
            <a:ext cx="1131176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+mn-lt"/>
              </a:rPr>
              <a:t>Spam and non-spam emails showed clear differences in financial, promotional, and emphatic text features.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+mn-lt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+mn-lt"/>
              </a:rPr>
              <a:t>Strongest predictors: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2060"/>
                </a:solidFill>
                <a:latin typeface="+mn-lt"/>
              </a:rPr>
              <a:t>dollar</a:t>
            </a:r>
            <a:r>
              <a:rPr lang="en-US" altLang="zh-CN" dirty="0">
                <a:latin typeface="+mn-lt"/>
              </a:rPr>
              <a:t> </a:t>
            </a:r>
            <a:r>
              <a:rPr lang="en-US" altLang="zh-CN" sz="2000" dirty="0">
                <a:latin typeface="+mn-lt"/>
              </a:rPr>
              <a:t>(P &lt; 0.001, OR ≈ 3573),</a:t>
            </a:r>
            <a:r>
              <a:rPr lang="zh-CN" altLang="en-US" sz="2000" dirty="0">
                <a:latin typeface="+mn-lt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</a:rPr>
              <a:t>money</a:t>
            </a:r>
            <a:r>
              <a:rPr lang="en-US" altLang="zh-CN" sz="2000" dirty="0">
                <a:latin typeface="+mn-lt"/>
              </a:rPr>
              <a:t> (P &lt; 0.001, OR ≈ 341)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+mn-lt"/>
              </a:rPr>
              <a:t>Moderate predictors: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+mn-lt"/>
              </a:rPr>
              <a:t>n000</a:t>
            </a:r>
            <a:r>
              <a:rPr lang="en-US" altLang="zh-CN" dirty="0">
                <a:latin typeface="+mn-lt"/>
              </a:rPr>
              <a:t> </a:t>
            </a:r>
            <a:r>
              <a:rPr lang="en-US" altLang="zh-CN" sz="2000" dirty="0">
                <a:latin typeface="+mn-lt"/>
              </a:rPr>
              <a:t>(P &lt; 0.01, OR ≈ 30.8), </a:t>
            </a:r>
            <a:r>
              <a:rPr lang="en-US" altLang="zh-CN" sz="2000" b="1" dirty="0">
                <a:solidFill>
                  <a:srgbClr val="0070C0"/>
                </a:solidFill>
                <a:latin typeface="+mn-lt"/>
              </a:rPr>
              <a:t>bang</a:t>
            </a:r>
            <a:r>
              <a:rPr lang="en-US" altLang="zh-CN" sz="2000" dirty="0">
                <a:latin typeface="+mn-lt"/>
              </a:rPr>
              <a:t> (P &lt; 0.001, OR ≈ 18.8)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+mn-lt"/>
              </a:rPr>
              <a:t>Weak practical effect: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err="1">
                <a:solidFill>
                  <a:srgbClr val="00B0F0"/>
                </a:solidFill>
                <a:latin typeface="+mn-lt"/>
              </a:rPr>
              <a:t>crl.tot</a:t>
            </a:r>
            <a:r>
              <a:rPr lang="en-US" altLang="zh-CN" sz="2000" b="1" dirty="0">
                <a:solidFill>
                  <a:srgbClr val="00B0F0"/>
                </a:solidFill>
                <a:latin typeface="+mn-lt"/>
              </a:rPr>
              <a:t> </a:t>
            </a:r>
            <a:r>
              <a:rPr lang="en-US" altLang="zh-CN" sz="2000" dirty="0">
                <a:latin typeface="+mn-lt"/>
              </a:rPr>
              <a:t>was statistically significant, but OR ≈ 1.001, so its practical effect was very small.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+mn-lt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4DBBC6"/>
                </a:solidFill>
                <a:latin typeface="+mn-lt"/>
              </a:rPr>
              <a:t>make</a:t>
            </a:r>
            <a:r>
              <a:rPr lang="en-US" altLang="zh-CN" dirty="0">
                <a:latin typeface="+mn-lt"/>
              </a:rPr>
              <a:t> </a:t>
            </a:r>
            <a:r>
              <a:rPr lang="en-US" altLang="zh-CN" sz="2000" dirty="0">
                <a:latin typeface="+mn-lt"/>
              </a:rPr>
              <a:t>was removed from the reduced model, which gave a simpler model while keeping the main useful predictors.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2000" b="1" dirty="0">
                <a:latin typeface="+mn-lt"/>
              </a:rPr>
              <a:t>83% Accuracy </a:t>
            </a:r>
            <a:r>
              <a:rPr lang="zh-CN" altLang="zh-CN" sz="2000" dirty="0">
                <a:latin typeface="+mn-lt"/>
              </a:rPr>
              <a:t>confirms text-based features are effective for real-world baseline filtering.</a:t>
            </a:r>
          </a:p>
        </p:txBody>
      </p:sp>
    </p:spTree>
    <p:extLst>
      <p:ext uri="{BB962C8B-B14F-4D97-AF65-F5344CB8AC3E}">
        <p14:creationId xmlns:p14="http://schemas.microsoft.com/office/powerpoint/2010/main" val="459226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B311-EE0A-0EF3-88E2-0801A7BD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1986-8026-7E14-0D80-B08DBD36D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9390048" cy="579193"/>
          </a:xfrm>
        </p:spPr>
        <p:txBody>
          <a:bodyPr/>
          <a:lstStyle/>
          <a:p>
            <a:r>
              <a:rPr lang="en-US" altLang="zh-CN" dirty="0"/>
              <a:t>Conclusion, Future Work &amp; Limitations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C4C293-E793-CA91-B167-A133A8453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F3B30D93-977A-0F28-54ED-B29D2EFDBC7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632813" y="1916248"/>
            <a:ext cx="8926374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Limitations: 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The model used only a limited number of text-based predictors. And some predictors</a:t>
            </a:r>
            <a:r>
              <a:rPr lang="zh-CN" altLang="en-US" dirty="0"/>
              <a:t>（</a:t>
            </a:r>
            <a:r>
              <a:rPr lang="en-US" altLang="zh-CN" dirty="0"/>
              <a:t>e.g., </a:t>
            </a:r>
            <a:r>
              <a:rPr lang="en-US" altLang="zh-CN" dirty="0" err="1"/>
              <a:t>crl.tot</a:t>
            </a:r>
            <a:r>
              <a:rPr lang="zh-CN" altLang="en-US" dirty="0"/>
              <a:t>）</a:t>
            </a:r>
            <a:r>
              <a:rPr lang="en-US" altLang="zh-CN" dirty="0"/>
              <a:t>were statistically significant but had weak practical effects, so The model should be seen as a useful baseline rather than a final solution.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Future </a:t>
            </a:r>
            <a:r>
              <a:rPr lang="en-US" altLang="zh-CN" sz="2800" b="1" dirty="0">
                <a:latin typeface="+mn-lt"/>
              </a:rPr>
              <a:t>Work</a:t>
            </a:r>
            <a:r>
              <a:rPr lang="zh-CN" altLang="zh-CN" sz="2800" b="1" dirty="0">
                <a:latin typeface="+mn-lt"/>
              </a:rPr>
              <a:t>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+mn-lt"/>
              </a:rPr>
              <a:t>Use a larger and more diverse dataset.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+mn-lt"/>
              </a:rPr>
              <a:t>Add more text-based features.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+mn-lt"/>
              </a:rPr>
              <a:t>Try other classification methods.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9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2E70-17C3-F6A3-C664-1EC6A926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2DA7-4559-EAE7-0A55-6164FEEE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52" y="512090"/>
            <a:ext cx="9390048" cy="579193"/>
          </a:xfrm>
        </p:spPr>
        <p:txBody>
          <a:bodyPr/>
          <a:lstStyle/>
          <a:p>
            <a:r>
              <a:rPr lang="en-US" altLang="zh-CN" dirty="0"/>
              <a:t>Q &amp; A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4E94004-93FF-2CCD-54D1-5D1C76E3E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99EC5-D85E-E2D1-D81B-07643A9EA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5464" y="3180522"/>
            <a:ext cx="10725206" cy="2788202"/>
          </a:xfrm>
        </p:spPr>
        <p:txBody>
          <a:bodyPr/>
          <a:lstStyle/>
          <a:p>
            <a:pPr algn="ctr"/>
            <a:r>
              <a:rPr lang="en-US" sz="4000" dirty="0"/>
              <a:t>Thanks for your listening!</a:t>
            </a:r>
          </a:p>
        </p:txBody>
      </p:sp>
    </p:spTree>
    <p:extLst>
      <p:ext uri="{BB962C8B-B14F-4D97-AF65-F5344CB8AC3E}">
        <p14:creationId xmlns:p14="http://schemas.microsoft.com/office/powerpoint/2010/main" val="380496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ity of Glasgow colours">
      <a:dk1>
        <a:srgbClr val="011451"/>
      </a:dk1>
      <a:lt1>
        <a:srgbClr val="FFFFFF"/>
      </a:lt1>
      <a:dk2>
        <a:srgbClr val="000000"/>
      </a:dk2>
      <a:lt2>
        <a:srgbClr val="E8E8E8"/>
      </a:lt2>
      <a:accent1>
        <a:srgbClr val="011451"/>
      </a:accent1>
      <a:accent2>
        <a:srgbClr val="F2D25C"/>
      </a:accent2>
      <a:accent3>
        <a:srgbClr val="4DBBC6"/>
      </a:accent3>
      <a:accent4>
        <a:srgbClr val="E98BAF"/>
      </a:accent4>
      <a:accent5>
        <a:srgbClr val="A5A1CE"/>
      </a:accent5>
      <a:accent6>
        <a:srgbClr val="81C071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8598</TotalTime>
  <Words>589</Words>
  <Application>Microsoft Office PowerPoint</Application>
  <PresentationFormat>宽屏</PresentationFormat>
  <Paragraphs>77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Aptos</vt:lpstr>
      <vt:lpstr>Arial</vt:lpstr>
      <vt:lpstr>Cambria Math</vt:lpstr>
      <vt:lpstr>Office Theme</vt:lpstr>
      <vt:lpstr>Identifying Key Indicators of Spam Emails:  A GLM Approach</vt:lpstr>
      <vt:lpstr>Background</vt:lpstr>
      <vt:lpstr>Data Cleaning</vt:lpstr>
      <vt:lpstr>Exploratory Data Analysis (EDA)</vt:lpstr>
      <vt:lpstr>Exploratory Data Analysis (EDA) - Key Findings</vt:lpstr>
      <vt:lpstr>Statistical Analysis: Logistic Regression</vt:lpstr>
      <vt:lpstr>Model Fitting</vt:lpstr>
      <vt:lpstr>Model Selection &amp; Results</vt:lpstr>
      <vt:lpstr>Model Validation &amp; Performance</vt:lpstr>
      <vt:lpstr>Conclusion, Future Work &amp; Limitations</vt:lpstr>
      <vt:lpstr>Conclusion, Future Work &amp; Limitations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Hedvanio Bezerra</dc:creator>
  <cp:lastModifiedBy>铭靖 张</cp:lastModifiedBy>
  <cp:revision>106</cp:revision>
  <dcterms:created xsi:type="dcterms:W3CDTF">2024-08-08T12:20:54Z</dcterms:created>
  <dcterms:modified xsi:type="dcterms:W3CDTF">2026-03-22T22:49:35Z</dcterms:modified>
</cp:coreProperties>
</file>